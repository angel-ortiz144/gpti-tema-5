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3" r:id="rId1"/>
  </p:sldMasterIdLst>
  <p:sldIdLst>
    <p:sldId id="256" r:id="rId2"/>
    <p:sldId id="257" r:id="rId3"/>
    <p:sldId id="290" r:id="rId4"/>
    <p:sldId id="340" r:id="rId5"/>
    <p:sldId id="341" r:id="rId6"/>
    <p:sldId id="342" r:id="rId7"/>
    <p:sldId id="344" r:id="rId8"/>
    <p:sldId id="343" r:id="rId9"/>
    <p:sldId id="345" r:id="rId10"/>
    <p:sldId id="346" r:id="rId11"/>
    <p:sldId id="349" r:id="rId12"/>
    <p:sldId id="350" r:id="rId13"/>
    <p:sldId id="347" r:id="rId14"/>
    <p:sldId id="266" r:id="rId15"/>
    <p:sldId id="309" r:id="rId16"/>
    <p:sldId id="33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51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43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28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163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398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955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049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09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496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719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309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5467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497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985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433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037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2688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74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6685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3956" r:id="rId13"/>
    <p:sldLayoutId id="2147483957" r:id="rId14"/>
    <p:sldLayoutId id="2147483958" r:id="rId15"/>
    <p:sldLayoutId id="2147483959" r:id="rId16"/>
    <p:sldLayoutId id="2147483960" r:id="rId17"/>
    <p:sldLayoutId id="2147483961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png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18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18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18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.google/DuD8tn2pxTI2PlF4R" TargetMode="External" /><Relationship Id="rId2" Type="http://schemas.openxmlformats.org/officeDocument/2006/relationships/hyperlink" Target="https://share.google/XKywPKdzQXv3DKMHL" TargetMode="External" /><Relationship Id="rId1" Type="http://schemas.openxmlformats.org/officeDocument/2006/relationships/slideLayout" Target="../slideLayouts/slideLayout18.xml" /><Relationship Id="rId6" Type="http://schemas.openxmlformats.org/officeDocument/2006/relationships/hyperlink" Target="https://youtu.be/9j-nwtsPung?si=Mqn5RfDbMfFa7cGT" TargetMode="External" /><Relationship Id="rId5" Type="http://schemas.openxmlformats.org/officeDocument/2006/relationships/hyperlink" Target="https://share.google/RTyxohkwZq8mtnOBP" TargetMode="External" /><Relationship Id="rId4" Type="http://schemas.openxmlformats.org/officeDocument/2006/relationships/hyperlink" Target="https://share.google/lml3y9zrrFZrAYEdv" TargetMode="Externa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hyperlink" Target="https://github.com/Angel-ortiz144/GPTI--Tema-5.git" TargetMode="External" /><Relationship Id="rId1" Type="http://schemas.openxmlformats.org/officeDocument/2006/relationships/slideLayout" Target="../slideLayouts/slideLayout1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13722" y="1834632"/>
            <a:ext cx="10743834" cy="1027386"/>
          </a:xfrm>
        </p:spPr>
        <p:txBody>
          <a:bodyPr>
            <a:normAutofit fontScale="90000"/>
          </a:bodyPr>
          <a:lstStyle/>
          <a:p>
            <a:pPr algn="ctr"/>
            <a:r>
              <a:rPr lang="es-MX" sz="3600" b="1" dirty="0"/>
              <a:t>Instituto tecnológico de nacional de México </a:t>
            </a:r>
            <a:br>
              <a:rPr lang="es-MX" sz="3600" b="1" dirty="0"/>
            </a:br>
            <a:r>
              <a:rPr lang="es-MX" sz="2000" b="1" dirty="0"/>
              <a:t>(instituto tecnológico de frontera Comalapa) </a:t>
            </a:r>
            <a:endParaRPr lang="es-MX" sz="3600" b="1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488" y="128946"/>
            <a:ext cx="3610303" cy="148252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063" y="-68067"/>
            <a:ext cx="3941380" cy="1876551"/>
          </a:xfrm>
          <a:prstGeom prst="rect">
            <a:avLst/>
          </a:prstGeom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820324" y="2862018"/>
            <a:ext cx="10330629" cy="427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MX" sz="2900" b="1" dirty="0"/>
              <a:t>Presentación</a:t>
            </a:r>
          </a:p>
          <a:p>
            <a:endParaRPr lang="es-MX" sz="2900" b="1" dirty="0"/>
          </a:p>
          <a:p>
            <a:r>
              <a:rPr lang="es-MX" sz="2000" b="1" dirty="0"/>
              <a:t>Nombre del estudiante: </a:t>
            </a:r>
          </a:p>
          <a:p>
            <a:r>
              <a:rPr lang="es-MX" sz="2000" cap="none" dirty="0" err="1"/>
              <a:t>Angel</a:t>
            </a:r>
            <a:r>
              <a:rPr lang="es-MX" sz="2000" cap="none" dirty="0"/>
              <a:t> De </a:t>
            </a:r>
            <a:r>
              <a:rPr lang="es-MX" sz="2000" cap="none" dirty="0" err="1"/>
              <a:t>Jesus</a:t>
            </a:r>
            <a:r>
              <a:rPr lang="es-MX" sz="2000" cap="none" dirty="0"/>
              <a:t> Mazariegos Ortiz</a:t>
            </a:r>
          </a:p>
          <a:p>
            <a:endParaRPr lang="es-MX" sz="2000" cap="none" dirty="0"/>
          </a:p>
          <a:p>
            <a:r>
              <a:rPr lang="es-MX" sz="2000" b="1" dirty="0"/>
              <a:t>no. Control:</a:t>
            </a:r>
          </a:p>
          <a:p>
            <a:r>
              <a:rPr lang="es-MX" sz="2000" dirty="0"/>
              <a:t>231260003</a:t>
            </a:r>
          </a:p>
          <a:p>
            <a:endParaRPr lang="es-MX" sz="2000" dirty="0"/>
          </a:p>
          <a:p>
            <a:r>
              <a:rPr lang="es-MX" sz="2000" b="1" cap="none" dirty="0"/>
              <a:t>MATERIA:</a:t>
            </a:r>
          </a:p>
          <a:p>
            <a:r>
              <a:rPr lang="es-US" sz="2000" cap="none" dirty="0"/>
              <a:t>Gestión de Proyectos de TI</a:t>
            </a:r>
            <a:endParaRPr lang="es-MX" sz="2000" cap="none" dirty="0"/>
          </a:p>
          <a:p>
            <a:endParaRPr lang="es-MX" sz="2000" dirty="0"/>
          </a:p>
          <a:p>
            <a:r>
              <a:rPr lang="es-MX" sz="2000" b="1" dirty="0"/>
              <a:t>Nombre del docente:</a:t>
            </a:r>
          </a:p>
          <a:p>
            <a:r>
              <a:rPr lang="es-MX" sz="2000" cap="none" dirty="0"/>
              <a:t>Francisco Javier Velázquez Mingo</a:t>
            </a:r>
          </a:p>
          <a:p>
            <a:endParaRPr lang="es-MX" sz="2000" dirty="0"/>
          </a:p>
          <a:p>
            <a:r>
              <a:rPr lang="es-MX" sz="2000" b="1" dirty="0"/>
              <a:t>Semestre:</a:t>
            </a:r>
            <a:endParaRPr lang="es-MX" sz="2000" b="1" cap="none" dirty="0"/>
          </a:p>
          <a:p>
            <a:r>
              <a:rPr lang="es-US" sz="2000" cap="none" dirty="0"/>
              <a:t>Séptimo </a:t>
            </a:r>
            <a:r>
              <a:rPr lang="es-MX" sz="2000" cap="none" dirty="0"/>
              <a:t>Semestre </a:t>
            </a:r>
          </a:p>
          <a:p>
            <a:endParaRPr lang="es-MX" sz="2000" dirty="0"/>
          </a:p>
          <a:p>
            <a:r>
              <a:rPr lang="es-MX" sz="2000" b="1" dirty="0"/>
              <a:t>Fecha:</a:t>
            </a:r>
          </a:p>
          <a:p>
            <a:r>
              <a:rPr lang="es-US" sz="2000" dirty="0"/>
              <a:t>30/09/2026</a:t>
            </a:r>
            <a:endParaRPr lang="es-MX" sz="2000" dirty="0"/>
          </a:p>
          <a:p>
            <a:endParaRPr lang="es-MX" sz="2100" dirty="0"/>
          </a:p>
          <a:p>
            <a:r>
              <a:rPr lang="es-MX" sz="3600" dirty="0"/>
              <a:t> </a:t>
            </a:r>
            <a:r>
              <a:rPr lang="es-MX" sz="3600" b="1" dirty="0"/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FA55246-EC8D-4FB4-B724-80EC97353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685" y="0"/>
            <a:ext cx="3116315" cy="18288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CA0DCF5-F42E-4506-A461-330A6B57584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t="74026"/>
          <a:stretch/>
        </p:blipFill>
        <p:spPr>
          <a:xfrm>
            <a:off x="8313685" y="1356696"/>
            <a:ext cx="3116315" cy="47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30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6358" y="-341320"/>
            <a:ext cx="10364451" cy="1596177"/>
          </a:xfrm>
        </p:spPr>
        <p:txBody>
          <a:bodyPr/>
          <a:lstStyle/>
          <a:p>
            <a:pPr algn="ctr"/>
            <a:r>
              <a:rPr lang="es-MX" b="1" dirty="0"/>
              <a:t>Introducción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776358" y="908494"/>
            <a:ext cx="10977952" cy="551762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US" dirty="0"/>
              <a:t>En la gestión de proyectos de tecnología de la información e ingeniería de software, la selección de la metodología, la herramienta de seguimiento y el control de cambios resultan fundamentales para garantizar el cumplimiento de las metas en tiempo, costo, alcance y calidad. El presente documento integra la resolución de una serie de ejercicios orientados a evaluar y aplicar buenas prácticas de gestión tecnológica. En primer lugar, se analiza el mapeo metodológico para seleccionar el software adecuado (Microsoft Project, Jira Software o </a:t>
            </a:r>
            <a:r>
              <a:rPr lang="es-US" dirty="0" err="1"/>
              <a:t>Trello</a:t>
            </a:r>
            <a:r>
              <a:rPr lang="es-US" dirty="0"/>
              <a:t>) en función de las necesidades operativas de tres escenarios distintivos: SIGHECD, OAS y LOGIX-TRACE. En segundo lugar, se estudia la solicitud de cambio SCR-LOGIX-001 mediante un análisis riguroso de impacto en las restricciones del proyecto y la emisión de un dictamen formal por parte del Comité de Control de Cambios (CCB). Finalmente, se aborda la medición e interpretación del rendimiento técnico a través de métricas e indicadores clave de desempeño (</a:t>
            </a:r>
            <a:r>
              <a:rPr lang="es-US" dirty="0" err="1"/>
              <a:t>KPIs</a:t>
            </a:r>
            <a:r>
              <a:rPr lang="es-US" dirty="0"/>
              <a:t>) en pruebas reales y de estrés.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3229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6DCB7-4A5B-B10C-1BC9-2108E5E4F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-233669"/>
            <a:ext cx="10353761" cy="1326321"/>
          </a:xfrm>
        </p:spPr>
        <p:txBody>
          <a:bodyPr/>
          <a:lstStyle/>
          <a:p>
            <a:r>
              <a:rPr lang="es-US" dirty="0"/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72E3CF-E2AD-28F8-DF10-5DF1E7BEF7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961" y="666527"/>
            <a:ext cx="11242076" cy="626962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US" dirty="0"/>
              <a:t>​​La elaboración de esta actividad se justifica en la necesidad de aplicar marcos metodológicos adecuados (tanto predictivos como ágiles y visuales) para responder a las restricciones específicas de cada entorno de trabajo:   </a:t>
            </a:r>
          </a:p>
          <a:p>
            <a:pPr algn="just"/>
            <a:r>
              <a:rPr lang="es-US" dirty="0"/>
              <a:t>Adecuación Metodológica y Herramientas: Proyectos con rigidez normativa, secuencias dependientes y fechas fijas de despliegue como SIGHECD requieren un enfoque predictivo apoyado en Microsoft Project para controlar la Ruta Crítica y los hitos clave. Por otro lado, desarrollos basados en iteraciones cortas y gestión de deuda técnica como OAS en </a:t>
            </a:r>
            <a:r>
              <a:rPr lang="es-US" dirty="0" err="1"/>
              <a:t>backend</a:t>
            </a:r>
            <a:r>
              <a:rPr lang="es-US" dirty="0"/>
              <a:t> se benefician de herramientas ágiles como Jira Software para administrar el </a:t>
            </a:r>
            <a:r>
              <a:rPr lang="es-US" dirty="0" err="1"/>
              <a:t>backlog</a:t>
            </a:r>
            <a:r>
              <a:rPr lang="es-US" dirty="0"/>
              <a:t> y los gráficos de </a:t>
            </a:r>
            <a:r>
              <a:rPr lang="es-US" dirty="0" err="1"/>
              <a:t>Burndown</a:t>
            </a:r>
            <a:r>
              <a:rPr lang="es-US" dirty="0"/>
              <a:t>. Asimismo, operaciones en campo con requerimientos de flujo directo como LOGIX-TRACE demandan tableros intuitivos tipo </a:t>
            </a:r>
            <a:r>
              <a:rPr lang="es-US" dirty="0" err="1"/>
              <a:t>Kanban</a:t>
            </a:r>
            <a:r>
              <a:rPr lang="es-US" dirty="0"/>
              <a:t> en </a:t>
            </a:r>
            <a:r>
              <a:rPr lang="es-US" dirty="0" err="1"/>
              <a:t>Trello</a:t>
            </a:r>
            <a:r>
              <a:rPr lang="es-US" dirty="0"/>
              <a:t> que optimicen la visibilidad sin introducir complejidad técnica innecesaria.</a:t>
            </a:r>
          </a:p>
          <a:p>
            <a:pPr algn="just"/>
            <a:r>
              <a:rPr lang="es-US" dirty="0"/>
              <a:t>Gobernanza y Control de Cambios: En proyectos con restricciones estrictas de tiempo (plazo inamovible) y presupuesto, autorizar modificaciones de alcance sin un análisis de impacto formal pone en riesgo la viabilidad del proyecto. La evaluación de la solicitud SCR-LOGIX-001 justifica la importancia de apegarse a la Ficha FLIP y diferir requerimientos no prioritarios a fases posteriores (Fase 2 / V2.0).</a:t>
            </a:r>
          </a:p>
          <a:p>
            <a:pPr algn="just"/>
            <a:r>
              <a:rPr lang="es-US" dirty="0"/>
              <a:t>Validación Cuantitativa de </a:t>
            </a:r>
            <a:r>
              <a:rPr lang="es-US" dirty="0" err="1"/>
              <a:t>KPIs</a:t>
            </a:r>
            <a:r>
              <a:rPr lang="es-US" dirty="0"/>
              <a:t>: La medición objetiva del rendimiento técnico mediante herramientas de monitoreo como </a:t>
            </a:r>
            <a:r>
              <a:rPr lang="es-US" dirty="0" err="1"/>
              <a:t>Jmeter</a:t>
            </a:r>
            <a:r>
              <a:rPr lang="es-US" dirty="0"/>
              <a:t>, pruebas de penetración (</a:t>
            </a:r>
            <a:r>
              <a:rPr lang="es-US" dirty="0" err="1"/>
              <a:t>PenTesting</a:t>
            </a:r>
            <a:r>
              <a:rPr lang="es-US" dirty="0"/>
              <a:t>) y validación de campo resulta imprescindible para comprobar fehacientemente que los sistemas están habilitados para avanzar de hito y proceder al despliegue oficial.</a:t>
            </a:r>
          </a:p>
        </p:txBody>
      </p:sp>
    </p:spTree>
    <p:extLst>
      <p:ext uri="{BB962C8B-B14F-4D97-AF65-F5344CB8AC3E}">
        <p14:creationId xmlns:p14="http://schemas.microsoft.com/office/powerpoint/2010/main" val="679947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F62945-5EEA-0168-1F99-CF670CC38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0"/>
            <a:ext cx="10353761" cy="1326321"/>
          </a:xfrm>
        </p:spPr>
        <p:txBody>
          <a:bodyPr/>
          <a:lstStyle/>
          <a:p>
            <a:r>
              <a:rPr lang="es-US" dirty="0"/>
              <a:t>Ejercicio 1: Mapeo Metodológico de Herramientas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2304FE-E434-33B2-19F1-E3384F9572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25594"/>
            <a:ext cx="10363826" cy="543524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US" b="1" dirty="0">
                <a:solidFill>
                  <a:srgbClr val="00B0F0"/>
                </a:solidFill>
              </a:rPr>
              <a:t>Instrucciones: </a:t>
            </a:r>
            <a:r>
              <a:rPr lang="es-US" dirty="0"/>
              <a:t>Relaciona las necesidades técnico-operativas de cada proyecto con la herramienta software más adecuada (Microsoft Project, Jira Software, </a:t>
            </a:r>
            <a:r>
              <a:rPr lang="es-US" dirty="0" err="1"/>
              <a:t>Trello</a:t>
            </a:r>
            <a:r>
              <a:rPr lang="es-US" dirty="0"/>
              <a:t>). Justifica la respuesta evaluando el enfoque (Predictivo vs. Ágil) y las restricciones de cada caso.   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Escenario A: </a:t>
            </a:r>
            <a:r>
              <a:rPr lang="es-US" dirty="0"/>
              <a:t>El proyecto SIGHECD requiere un control estricto de la Ruta Crítica para asegurar que en la Semana 11 se ejecuten las auditorías de ciberseguridad y certificación HL7/FHIR previa al despliegue en la Semana 12.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Escenario B: </a:t>
            </a:r>
            <a:r>
              <a:rPr lang="es-US" dirty="0"/>
              <a:t>El proyecto OAS organiza su desarrollo </a:t>
            </a:r>
            <a:r>
              <a:rPr lang="es-US" dirty="0" err="1"/>
              <a:t>backend</a:t>
            </a:r>
            <a:r>
              <a:rPr lang="es-US" dirty="0"/>
              <a:t> en Spring </a:t>
            </a:r>
            <a:r>
              <a:rPr lang="es-US" dirty="0" err="1"/>
              <a:t>Boot</a:t>
            </a:r>
            <a:r>
              <a:rPr lang="es-US" dirty="0"/>
              <a:t> mediante iteraciones (</a:t>
            </a:r>
            <a:r>
              <a:rPr lang="es-US" dirty="0" err="1"/>
              <a:t>Sprints</a:t>
            </a:r>
            <a:r>
              <a:rPr lang="es-US" dirty="0"/>
              <a:t>) de 2 semanas, monitoreando el avance diario de puntos de historia e incidencias en la integración del motor de calificación automatizado.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Escenario C: </a:t>
            </a:r>
            <a:r>
              <a:rPr lang="es-US" dirty="0"/>
              <a:t>El equipo operativo en campo de LOGIX-TRACE requiere dar seguimiento visual e intuitivo al estado de las 10 unidades de flota en prueba piloto (Columnas: En Preparación, Conductores Capacitados, En Ruta, Prueba POD Completada).</a:t>
            </a:r>
          </a:p>
          <a:p>
            <a:pPr algn="just"/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720037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A8536-B7C2-799D-4C28-8AE637C0A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368" y="0"/>
            <a:ext cx="10353761" cy="1326321"/>
          </a:xfrm>
        </p:spPr>
        <p:txBody>
          <a:bodyPr/>
          <a:lstStyle/>
          <a:p>
            <a:r>
              <a:rPr lang="es-US" dirty="0"/>
              <a:t>Solución Ejercicio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D39897-ED74-E7B9-C0C2-C597BB36A2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5468" y="985344"/>
            <a:ext cx="10363826" cy="3424107"/>
          </a:xfrm>
        </p:spPr>
        <p:txBody>
          <a:bodyPr/>
          <a:lstStyle/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Escenario A: </a:t>
            </a:r>
            <a:r>
              <a:rPr lang="es-US" dirty="0"/>
              <a:t>Microsoft Project. Permite calcular y monitorear visualmente la Ruta Crítica (</a:t>
            </a:r>
            <a:r>
              <a:rPr lang="es-US" dirty="0" err="1"/>
              <a:t>Critical</a:t>
            </a:r>
            <a:r>
              <a:rPr lang="es-US" dirty="0"/>
              <a:t> </a:t>
            </a:r>
            <a:r>
              <a:rPr lang="es-US" dirty="0" err="1"/>
              <a:t>Path</a:t>
            </a:r>
            <a:r>
              <a:rPr lang="es-US" dirty="0"/>
              <a:t>), asegurando la secuencia lógica estricta de las 12 semanas de SIGHECD y el control de dependencias en hitos normativos (HL7/HIPAA).   </a:t>
            </a:r>
          </a:p>
          <a:p>
            <a:pPr marL="0" indent="0" algn="just">
              <a:buNone/>
            </a:pPr>
            <a:endParaRPr lang="es-U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3DAE65D-1F30-0A15-4046-9983CF09D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58" y="2291278"/>
            <a:ext cx="10576636" cy="435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090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5ACA20-0F7C-FDFA-20BA-E0869C36F5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466532"/>
            <a:ext cx="10363826" cy="3424107"/>
          </a:xfrm>
        </p:spPr>
        <p:txBody>
          <a:bodyPr/>
          <a:lstStyle/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Escenario B: </a:t>
            </a:r>
            <a:r>
              <a:rPr lang="es-US" dirty="0"/>
              <a:t>Jira Software. Proporciona tableros </a:t>
            </a:r>
            <a:r>
              <a:rPr lang="es-US" dirty="0" err="1"/>
              <a:t>Scrum</a:t>
            </a:r>
            <a:r>
              <a:rPr lang="es-US" dirty="0"/>
              <a:t> para administrar el </a:t>
            </a:r>
            <a:r>
              <a:rPr lang="es-US" dirty="0" err="1"/>
              <a:t>Backlog</a:t>
            </a:r>
            <a:r>
              <a:rPr lang="es-US" dirty="0"/>
              <a:t>, definir </a:t>
            </a:r>
            <a:r>
              <a:rPr lang="es-US" dirty="0" err="1"/>
              <a:t>Sprints</a:t>
            </a:r>
            <a:r>
              <a:rPr lang="es-US" dirty="0"/>
              <a:t> de 2 semanas y generar </a:t>
            </a:r>
            <a:r>
              <a:rPr lang="es-US" dirty="0" err="1"/>
              <a:t>Burndown</a:t>
            </a:r>
            <a:r>
              <a:rPr lang="es-US" dirty="0"/>
              <a:t> Charts automáticos para rastrear la resolución de tareas en OAS.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CA4DE40-F3A3-166D-1C0B-38026FB5B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462" y="1803050"/>
            <a:ext cx="8712377" cy="428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87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E29E9B-1C5C-9FF4-32DA-5FD67222A3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4823" y="253386"/>
            <a:ext cx="10363826" cy="3424107"/>
          </a:xfrm>
        </p:spPr>
        <p:txBody>
          <a:bodyPr/>
          <a:lstStyle/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Escenario C: </a:t>
            </a:r>
            <a:r>
              <a:rPr lang="es-US" dirty="0" err="1"/>
              <a:t>Trello</a:t>
            </a:r>
            <a:r>
              <a:rPr lang="es-US" dirty="0"/>
              <a:t>. Es la herramienta ideal por su enfoque </a:t>
            </a:r>
            <a:r>
              <a:rPr lang="es-US" dirty="0" err="1"/>
              <a:t>Kanban</a:t>
            </a:r>
            <a:r>
              <a:rPr lang="es-US" dirty="0"/>
              <a:t> visual y liviano, permitiendo al personal operativo organizar el despliegue físico de la flota piloto de LOGIX-TRACE sin la complejidad de una suite de desarrollo.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73FDBEC-DD6C-58AE-7B4E-C30B1943C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902" y="1705175"/>
            <a:ext cx="9467273" cy="464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030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2C185-B501-6CD2-5AE2-2FEF75A24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93315"/>
            <a:ext cx="10353761" cy="1326321"/>
          </a:xfrm>
        </p:spPr>
        <p:txBody>
          <a:bodyPr/>
          <a:lstStyle/>
          <a:p>
            <a:r>
              <a:rPr lang="es-US" dirty="0"/>
              <a:t>Ejercicio 2: Análisis e Impacto de Solicitud de Cambio (SCR-LOGIX-001)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A5E9AC-E3F7-7E8D-16DE-6AF76A92A0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4335" y="1876950"/>
            <a:ext cx="10363826" cy="3424107"/>
          </a:xfrm>
        </p:spPr>
        <p:txBody>
          <a:bodyPr/>
          <a:lstStyle/>
          <a:p>
            <a:pPr marL="0" indent="0">
              <a:buNone/>
            </a:pPr>
            <a:r>
              <a:rPr lang="es-US" b="1" dirty="0">
                <a:solidFill>
                  <a:srgbClr val="FF0000"/>
                </a:solidFill>
              </a:rPr>
              <a:t>Contexto del Problema:</a:t>
            </a:r>
          </a:p>
          <a:p>
            <a:pPr marL="0" indent="0" algn="just">
              <a:buNone/>
            </a:pPr>
            <a:r>
              <a:rPr lang="es-US" dirty="0"/>
              <a:t>Durante la Semana 5 de ejecución del proyecto LOGIX-TRACE, el Director de Operaciones y Flotas (Responsable Operativo) presenta formalmente la Solicitud de cambio SCR-LOGIX-001:</a:t>
            </a:r>
          </a:p>
          <a:p>
            <a:pPr marL="0" indent="0" algn="just">
              <a:buNone/>
            </a:pPr>
            <a:r>
              <a:rPr lang="es-US" dirty="0"/>
              <a:t>“Se requiere incorporar de forma inmediata la integración de sensores de temperatura </a:t>
            </a:r>
            <a:r>
              <a:rPr lang="es-US" dirty="0" err="1"/>
              <a:t>IoT</a:t>
            </a:r>
            <a:r>
              <a:rPr lang="es-US" dirty="0"/>
              <a:t> vía Bluetooth en los vehículos para el monitoreo en tiempo real de carga refrigerada, alertando desviaciones térmicas a la App Móvil.”</a:t>
            </a:r>
          </a:p>
        </p:txBody>
      </p:sp>
    </p:spTree>
    <p:extLst>
      <p:ext uri="{BB962C8B-B14F-4D97-AF65-F5344CB8AC3E}">
        <p14:creationId xmlns:p14="http://schemas.microsoft.com/office/powerpoint/2010/main" val="131669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6CB47E-CD31-B5AF-AAB5-48B4DCD5AC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5454" y="4893"/>
            <a:ext cx="11838531" cy="66381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US" b="1" dirty="0">
                <a:solidFill>
                  <a:srgbClr val="00B0F0"/>
                </a:solidFill>
              </a:rPr>
              <a:t>Datos Técnicos del Proyecto LOGIX-TRACE:</a:t>
            </a:r>
          </a:p>
          <a:p>
            <a:r>
              <a:rPr lang="es-US" b="1" dirty="0">
                <a:solidFill>
                  <a:srgbClr val="FF0000"/>
                </a:solidFill>
              </a:rPr>
              <a:t>Plazo Total: </a:t>
            </a:r>
            <a:r>
              <a:rPr lang="es-US" dirty="0"/>
              <a:t>10 Semanas (Inamovible).</a:t>
            </a:r>
          </a:p>
          <a:p>
            <a:r>
              <a:rPr lang="es-US" b="1" dirty="0">
                <a:solidFill>
                  <a:srgbClr val="FF0000"/>
                </a:solidFill>
              </a:rPr>
              <a:t>Presupuesto de </a:t>
            </a:r>
            <a:r>
              <a:rPr lang="es-US" b="1" dirty="0" err="1">
                <a:solidFill>
                  <a:srgbClr val="FF0000"/>
                </a:solidFill>
              </a:rPr>
              <a:t>APIs</a:t>
            </a:r>
            <a:r>
              <a:rPr lang="es-US" b="1" dirty="0">
                <a:solidFill>
                  <a:srgbClr val="FF0000"/>
                </a:solidFill>
              </a:rPr>
              <a:t> de Mapas:</a:t>
            </a:r>
            <a:r>
              <a:rPr lang="es-US" dirty="0"/>
              <a:t> Al límite de la cuota asignada.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Alcance Original (FLIP): </a:t>
            </a:r>
            <a:r>
              <a:rPr lang="es-US" dirty="0"/>
              <a:t>Monitoreo de carga refrigerada mediante sensores térmicos externos está estipulado expresamente como Fuera del Alcance (Fase 2).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Estimación del Desarrollo del Cambio: </a:t>
            </a:r>
            <a:r>
              <a:rPr lang="es-US" dirty="0"/>
              <a:t>Requiere 2 semanas adicionales de diseño de arquitectura, drivers </a:t>
            </a:r>
            <a:r>
              <a:rPr lang="es-US" dirty="0" err="1"/>
              <a:t>IoT</a:t>
            </a:r>
            <a:r>
              <a:rPr lang="es-US" dirty="0"/>
              <a:t> y un incremento del 18% en costos de integración.</a:t>
            </a:r>
          </a:p>
          <a:p>
            <a:pPr marL="0" indent="0">
              <a:buNone/>
            </a:pPr>
            <a:r>
              <a:rPr lang="es-US" b="1" dirty="0">
                <a:solidFill>
                  <a:srgbClr val="00B0F0"/>
                </a:solidFill>
              </a:rPr>
              <a:t>Preguntas a Resolver por el Estudiante y PM: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US" b="1" dirty="0">
                <a:solidFill>
                  <a:srgbClr val="FF0000"/>
                </a:solidFill>
              </a:rPr>
              <a:t>Análisis de Impacto: </a:t>
            </a:r>
            <a:r>
              <a:rPr lang="es-US" dirty="0"/>
              <a:t>Como Gerente de Proyecto (</a:t>
            </a:r>
            <a:r>
              <a:rPr lang="es-US" dirty="0" err="1"/>
              <a:t>Angel</a:t>
            </a:r>
            <a:r>
              <a:rPr lang="es-US" dirty="0"/>
              <a:t> De </a:t>
            </a:r>
            <a:r>
              <a:rPr lang="es-US" dirty="0" err="1"/>
              <a:t>Jesus</a:t>
            </a:r>
            <a:r>
              <a:rPr lang="es-US" dirty="0"/>
              <a:t> Mazariegos Ortiz), evalúa el impacto de la solicitud sobre las restricciones del proyecto (Tiempo, Costo, Alcance, Calidad y Riesgo).  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US" b="1" dirty="0">
                <a:solidFill>
                  <a:srgbClr val="FF0000"/>
                </a:solidFill>
              </a:rPr>
              <a:t>Dictamen del Comité (CCB): </a:t>
            </a:r>
            <a:r>
              <a:rPr lang="es-US" dirty="0"/>
              <a:t>Redacta el dictamen que emitirá el Comité de Control de Cambios integrado por el PM, el Líder Técnico (Ingeniero Principal de Cloud &amp; </a:t>
            </a:r>
            <a:r>
              <a:rPr lang="es-US" dirty="0" err="1"/>
              <a:t>IoT</a:t>
            </a:r>
            <a:r>
              <a:rPr lang="es-US" dirty="0"/>
              <a:t>) y la Persona Ejecutoria (Cristian Vázquez Escobedo). Argumenta la decisión.  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US" b="1" dirty="0">
                <a:solidFill>
                  <a:srgbClr val="FF0000"/>
                </a:solidFill>
              </a:rPr>
              <a:t>Plan de Acción: </a:t>
            </a:r>
            <a:r>
              <a:rPr lang="es-US" dirty="0"/>
              <a:t>¿En qué instrumento formal de gestión debe quedar registrada esta decisión y qué respuesta se le entrega al solicitante?   </a:t>
            </a:r>
          </a:p>
          <a:p>
            <a:pPr marL="457200" indent="-457200" algn="just">
              <a:buFont typeface="+mj-lt"/>
              <a:buAutoNum type="arabicPeriod"/>
            </a:pP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981941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3DC75-D5D5-08F2-1CEC-09A9A2CE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0"/>
            <a:ext cx="10353761" cy="1326321"/>
          </a:xfrm>
        </p:spPr>
        <p:txBody>
          <a:bodyPr/>
          <a:lstStyle/>
          <a:p>
            <a:r>
              <a:rPr lang="es-US" dirty="0"/>
              <a:t>Solución Ejercicio 2 (Dictamen Caso LOGIX-TRACE):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0E7C40-AF41-1676-EA04-F58FFFC00F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26321"/>
            <a:ext cx="10363826" cy="5370043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s-US" b="1" dirty="0">
                <a:solidFill>
                  <a:srgbClr val="00B0F0"/>
                </a:solidFill>
              </a:rPr>
              <a:t>Impacto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Tiempo: </a:t>
            </a:r>
            <a:r>
              <a:rPr lang="es-US" dirty="0"/>
              <a:t>Aumentaría el tiempo total de 10 a 12 semanas, violando la restricción crítica de entrega inamovible de 10 semanas.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Costo: </a:t>
            </a:r>
            <a:r>
              <a:rPr lang="es-US" dirty="0"/>
              <a:t>Representaría un sobrecosto del 18% no planificado en la fase 1.   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Alcance: </a:t>
            </a:r>
            <a:r>
              <a:rPr lang="es-US" dirty="0"/>
              <a:t>Modifica la línea base aprobada introduciendo hardware </a:t>
            </a:r>
            <a:r>
              <a:rPr lang="es-US" dirty="0" err="1"/>
              <a:t>IoT</a:t>
            </a:r>
            <a:r>
              <a:rPr lang="es-US" dirty="0"/>
              <a:t> no contemplado.</a:t>
            </a:r>
          </a:p>
          <a:p>
            <a:pPr marL="457200" indent="-457200" algn="just">
              <a:buAutoNum type="arabicPeriod" startAt="2"/>
            </a:pPr>
            <a:r>
              <a:rPr lang="es-US" b="1" dirty="0">
                <a:solidFill>
                  <a:srgbClr val="00B0F0"/>
                </a:solidFill>
              </a:rPr>
              <a:t>Dictamen del CCB: RECHAZADO y DIFERIDO PARA FASE 2.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Argumentación: </a:t>
            </a:r>
            <a:r>
              <a:rPr lang="es-US" dirty="0"/>
              <a:t>El requerimiento está catalogado expresamente como Fuera del Alcance (Exclusión) en la Ficha FLIP firmada. Su incorporación compromete la fecha de lanzamiento de 10 semanas y la cuota de presupuesto.</a:t>
            </a:r>
          </a:p>
          <a:p>
            <a:pPr marL="457200" indent="-457200" algn="just">
              <a:buAutoNum type="arabicPeriod" startAt="3"/>
            </a:pPr>
            <a:r>
              <a:rPr lang="es-US" b="1" dirty="0">
                <a:solidFill>
                  <a:srgbClr val="00B0F0"/>
                </a:solidFill>
              </a:rPr>
              <a:t>Plan de Acción: </a:t>
            </a:r>
            <a:r>
              <a:rPr lang="es-US" dirty="0"/>
              <a:t>El PM registrará la solicitud con estado “Diferido para V2.0” en la Bitácora de Control de Cambios del proyecto y notificará por escrito al Director de Operaciones, añadiendo la tarjeta correspondiente en el </a:t>
            </a:r>
            <a:r>
              <a:rPr lang="es-US" dirty="0" err="1"/>
              <a:t>Backlog</a:t>
            </a:r>
            <a:r>
              <a:rPr lang="es-US" dirty="0"/>
              <a:t> futuro de Jira.</a:t>
            </a:r>
          </a:p>
          <a:p>
            <a:pPr marL="0" indent="0">
              <a:buNone/>
            </a:pP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1909545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AFA75-1780-C1AE-6EF8-72D1816D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767" y="130019"/>
            <a:ext cx="10978023" cy="1326321"/>
          </a:xfrm>
        </p:spPr>
        <p:txBody>
          <a:bodyPr/>
          <a:lstStyle/>
          <a:p>
            <a:r>
              <a:rPr lang="es-US"/>
              <a:t>Ejercicio 3: </a:t>
            </a:r>
            <a:r>
              <a:rPr lang="es-US" dirty="0"/>
              <a:t>Medición de Rendimiento Técnico y </a:t>
            </a:r>
            <a:r>
              <a:rPr lang="es-US" dirty="0" err="1"/>
              <a:t>KPIs</a:t>
            </a:r>
            <a:endParaRPr lang="es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2ACB21-2AF7-6BDC-DE51-85D28F921A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98865" y="1456340"/>
            <a:ext cx="10363826" cy="5401660"/>
          </a:xfrm>
        </p:spPr>
        <p:txBody>
          <a:bodyPr/>
          <a:lstStyle/>
          <a:p>
            <a:pPr marL="0" indent="0" algn="just">
              <a:buNone/>
            </a:pPr>
            <a:r>
              <a:rPr lang="es-US" b="1" dirty="0">
                <a:solidFill>
                  <a:srgbClr val="00B0F0"/>
                </a:solidFill>
              </a:rPr>
              <a:t>Instrucciones: </a:t>
            </a:r>
            <a:r>
              <a:rPr lang="es-US" dirty="0"/>
              <a:t>Para cada uno de los siguientes escenarios de monitoreo, identifica la herramienta tecnológica adecuada y calcula o determina el estado de la meta según los </a:t>
            </a:r>
            <a:r>
              <a:rPr lang="es-US" dirty="0" err="1"/>
              <a:t>KPIs</a:t>
            </a:r>
            <a:r>
              <a:rPr lang="es-US" dirty="0"/>
              <a:t> establecidos en las fichas del proyecto:  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US" b="1" dirty="0">
                <a:solidFill>
                  <a:srgbClr val="FF0000"/>
                </a:solidFill>
              </a:rPr>
              <a:t>Monitoreo OAS (Semana 8): </a:t>
            </a:r>
            <a:r>
              <a:rPr lang="es-US" dirty="0"/>
              <a:t>Se ejecutan pruebas de carga con </a:t>
            </a:r>
            <a:r>
              <a:rPr lang="es-US" dirty="0" err="1"/>
              <a:t>Jmeter</a:t>
            </a:r>
            <a:r>
              <a:rPr lang="es-US" dirty="0"/>
              <a:t> para simular 1,000 estudiantes realizando exámenes en línea simultáneamente. El reporte arroja un tiempo medio de respuesta de 1.8 segundos y una disponibilidad del 99.7%.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Pregunta: </a:t>
            </a:r>
            <a:r>
              <a:rPr lang="es-US" dirty="0"/>
              <a:t>¿Cumple el sistema con los indicadores de éxito aprobados en el FLIP? Justifica cuantitativamente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00B050"/>
                </a:solidFill>
              </a:rPr>
              <a:t>Solución Ejercicio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OAS: </a:t>
            </a:r>
            <a:r>
              <a:rPr lang="es-US" dirty="0"/>
              <a:t>CUMPLE. El tiempo de respuesta es de 1.8s (meta: &lt; 2.0s) y el </a:t>
            </a:r>
            <a:r>
              <a:rPr lang="es-US" dirty="0" err="1"/>
              <a:t>Uptime</a:t>
            </a:r>
            <a:r>
              <a:rPr lang="es-US" dirty="0"/>
              <a:t> es de 99.7% (meta: ≥ 99.5%).</a:t>
            </a:r>
          </a:p>
        </p:txBody>
      </p:sp>
    </p:spTree>
    <p:extLst>
      <p:ext uri="{BB962C8B-B14F-4D97-AF65-F5344CB8AC3E}">
        <p14:creationId xmlns:p14="http://schemas.microsoft.com/office/powerpoint/2010/main" val="2333141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40F678-7C39-C536-70F2-A58C68BB63E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1037895"/>
            <a:ext cx="10363826" cy="4782210"/>
          </a:xfrm>
        </p:spPr>
        <p:txBody>
          <a:bodyPr/>
          <a:lstStyle/>
          <a:p>
            <a:pPr marL="457200" indent="-457200" algn="just">
              <a:buAutoNum type="arabicPeriod" startAt="2"/>
            </a:pPr>
            <a:r>
              <a:rPr lang="es-US" b="1" dirty="0">
                <a:solidFill>
                  <a:srgbClr val="FF0000"/>
                </a:solidFill>
              </a:rPr>
              <a:t>Monitoreo LOGIX-TRACE (Semana 6): </a:t>
            </a:r>
            <a:r>
              <a:rPr lang="es-US" dirty="0"/>
              <a:t>Durante la prueba piloto con 10 unidades, el portal registra una precisión en la hora estimada de llegada (ETA) del 98.5% y una tasa de confirmación con Prueba de Entrega Digital (POD) en tiempo real del 99.6%.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Pregunta: </a:t>
            </a:r>
            <a:r>
              <a:rPr lang="es-US" dirty="0"/>
              <a:t>Determina si el sistema está listo para pasar el hito de validación de rendimiento en ruta real (Hito 4).   </a:t>
            </a:r>
          </a:p>
          <a:p>
            <a:pPr marL="0" indent="0">
              <a:buNone/>
            </a:pPr>
            <a:r>
              <a:rPr lang="es-US" b="1" dirty="0">
                <a:solidFill>
                  <a:srgbClr val="00B050"/>
                </a:solidFill>
              </a:rPr>
              <a:t>Solución Ejercicio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LOGIX-TRACE: </a:t>
            </a:r>
            <a:r>
              <a:rPr lang="es-US" dirty="0"/>
              <a:t>CUMPLE Y APTO. La precisión de ETA es del 98.5% (meta: ≥ 98%) y el registro POD es del 99.6% (meta: ≥ 99.5%). El proyecto aprueba el Hito 4.</a:t>
            </a:r>
          </a:p>
        </p:txBody>
      </p:sp>
    </p:spTree>
    <p:extLst>
      <p:ext uri="{BB962C8B-B14F-4D97-AF65-F5344CB8AC3E}">
        <p14:creationId xmlns:p14="http://schemas.microsoft.com/office/powerpoint/2010/main" val="3270628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022858-1BFA-B5C4-DB35-FE21D5275A4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1374466"/>
            <a:ext cx="10363826" cy="4109068"/>
          </a:xfrm>
        </p:spPr>
        <p:txBody>
          <a:bodyPr>
            <a:normAutofit fontScale="92500"/>
          </a:bodyPr>
          <a:lstStyle/>
          <a:p>
            <a:pPr marL="457200" indent="-457200" algn="just">
              <a:buAutoNum type="arabicPeriod" startAt="3"/>
            </a:pPr>
            <a:r>
              <a:rPr lang="es-US" b="1" dirty="0">
                <a:solidFill>
                  <a:srgbClr val="FF0000"/>
                </a:solidFill>
              </a:rPr>
              <a:t>Monitoreo SIGHECD (Semana 11): </a:t>
            </a:r>
            <a:r>
              <a:rPr lang="es-US" dirty="0"/>
              <a:t>Se efectúa una prueba de penetración (</a:t>
            </a:r>
            <a:r>
              <a:rPr lang="es-US" dirty="0" err="1"/>
              <a:t>PenTesting</a:t>
            </a:r>
            <a:r>
              <a:rPr lang="es-US" dirty="0"/>
              <a:t>) e inspección de base de datos con 500 profesionales médicos concurrentes, registrando tiempos de consulta de expediente de 1.2 segundos y 0 brechas de seguridad.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Pregunta: </a:t>
            </a:r>
            <a:r>
              <a:rPr lang="es-US" dirty="0"/>
              <a:t>¿Qué certificación o validación del cronograma habilita este resultado para la Semana 12?   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00B050"/>
                </a:solidFill>
              </a:rPr>
              <a:t>Solución Ejercicio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SIGHECD: </a:t>
            </a:r>
            <a:r>
              <a:rPr lang="es-US" dirty="0"/>
              <a:t>CUMPLE Y HABILITA EL DESPLIEGUE. La velocidad de consulta clínica es de 1.2s (meta: &lt; 1.5s) con 0 incidentes de seguridad. Habilita la Certificación de Cumplimiento Normativo (Hito 4) para proceder al despliegue final en la Semana 12 (Hito 5).</a:t>
            </a:r>
          </a:p>
        </p:txBody>
      </p:sp>
    </p:spTree>
    <p:extLst>
      <p:ext uri="{BB962C8B-B14F-4D97-AF65-F5344CB8AC3E}">
        <p14:creationId xmlns:p14="http://schemas.microsoft.com/office/powerpoint/2010/main" val="2124102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D9536-2373-4716-A85D-A9802C1E1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-222580"/>
            <a:ext cx="8610600" cy="1293028"/>
          </a:xfrm>
        </p:spPr>
        <p:txBody>
          <a:bodyPr/>
          <a:lstStyle/>
          <a:p>
            <a:pPr algn="ctr"/>
            <a:r>
              <a:rPr lang="es-MX" b="1" dirty="0"/>
              <a:t>Conclusión</a:t>
            </a:r>
            <a:r>
              <a:rPr lang="es-MX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68DE2A-CAFB-400E-89FD-3E49FD7B34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13763" y="1070448"/>
            <a:ext cx="10363826" cy="632335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US" dirty="0"/>
              <a:t>Como conclusión puedo decir sobre ​el desarrollo de los ejercicios confirma la importancia de alinear las herramientas tecnológicas de gestión con la naturaleza táctica y operativa de cada proyecto. No existe una herramienta única para la gestión de proyectos; la elección entre Microsoft Project, Jira Software y </a:t>
            </a:r>
            <a:r>
              <a:rPr lang="es-US" dirty="0" err="1"/>
              <a:t>Trello</a:t>
            </a:r>
            <a:r>
              <a:rPr lang="es-US" dirty="0"/>
              <a:t> depende del grado de predictibilidad, la metodología utilizada (</a:t>
            </a:r>
            <a:r>
              <a:rPr lang="es-US"/>
              <a:t>Tradicional y Gantt </a:t>
            </a:r>
            <a:r>
              <a:rPr lang="es-US" dirty="0"/>
              <a:t>vs. </a:t>
            </a:r>
            <a:r>
              <a:rPr lang="es-US" dirty="0" err="1"/>
              <a:t>Scrum</a:t>
            </a:r>
            <a:r>
              <a:rPr lang="es-US" dirty="0"/>
              <a:t> vs. </a:t>
            </a:r>
            <a:r>
              <a:rPr lang="es-US" dirty="0" err="1"/>
              <a:t>Kanban</a:t>
            </a:r>
            <a:r>
              <a:rPr lang="es-US" dirty="0"/>
              <a:t>) y el perfil del equipo involucrado. La disciplina en la gobernanza a través del Comité de Control de Cambios (CCB) es el mecanismo clave para proteger la línea base del proyecto. Rechazar o diferir cambios que extiendan el tiempo o comprometan el presupuesto en fases críticas es vital para asegurar el éxito en la entrega. La evaluación satisfactoria de los </a:t>
            </a:r>
            <a:r>
              <a:rPr lang="es-US" dirty="0" err="1"/>
              <a:t>KPIs</a:t>
            </a:r>
            <a:r>
              <a:rPr lang="es-US" dirty="0"/>
              <a:t> en los tres proyectos (tiempos de respuesta en OAS de 1.8s, precisión de ETA en LOGIX-TRACE del 98.5% y 0 brechas de seguridad en SIGHECD) demuestra que el cumplimiento de las metas técnicas preestablecidas en la Ficha FLIP valida la transición formal entre hitos y garantiza el despliegue exitoso en entornos de producción.   </a:t>
            </a:r>
          </a:p>
        </p:txBody>
      </p:sp>
    </p:spTree>
    <p:extLst>
      <p:ext uri="{BB962C8B-B14F-4D97-AF65-F5344CB8AC3E}">
        <p14:creationId xmlns:p14="http://schemas.microsoft.com/office/powerpoint/2010/main" val="2345241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5AA06-F424-889C-8233-3A9926E4D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582957"/>
            <a:ext cx="10353761" cy="1326321"/>
          </a:xfrm>
        </p:spPr>
        <p:txBody>
          <a:bodyPr/>
          <a:lstStyle/>
          <a:p>
            <a:r>
              <a:rPr lang="es-US" dirty="0"/>
              <a:t>FUENTES DE INFORMACIÓN  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0E82C0-7E96-588D-484B-8B1730BF0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41452" y="1716946"/>
            <a:ext cx="8509093" cy="4233404"/>
          </a:xfrm>
        </p:spPr>
        <p:txBody>
          <a:bodyPr>
            <a:normAutofit/>
          </a:bodyPr>
          <a:lstStyle/>
          <a:p>
            <a:r>
              <a:rPr lang="es-US" dirty="0"/>
              <a:t>1 mensaje nuevo </a:t>
            </a:r>
            <a:r>
              <a:rPr lang="es-US" dirty="0">
                <a:hlinkClick r:id="rId2"/>
              </a:rPr>
              <a:t>https://share.google/XKywPKdzQXv3DKMHL</a:t>
            </a:r>
            <a:r>
              <a:rPr lang="es-US" dirty="0"/>
              <a:t> </a:t>
            </a:r>
          </a:p>
          <a:p>
            <a:r>
              <a:rPr lang="es-US" dirty="0"/>
              <a:t>10 mejores herramientas de gestión de proyectos [2026] </a:t>
            </a:r>
            <a:r>
              <a:rPr lang="es-US" dirty="0">
                <a:hlinkClick r:id="rId3"/>
              </a:rPr>
              <a:t>https://share.google/DuD8tn2pxTI2PlF4R</a:t>
            </a:r>
            <a:r>
              <a:rPr lang="es-US" dirty="0"/>
              <a:t> </a:t>
            </a:r>
          </a:p>
          <a:p>
            <a:r>
              <a:rPr lang="es-US" dirty="0"/>
              <a:t>Los 7 mejores softwares gratuitos de gestión de proyectos [2026] </a:t>
            </a:r>
            <a:r>
              <a:rPr lang="es-US" dirty="0">
                <a:hlinkClick r:id="rId4"/>
              </a:rPr>
              <a:t>https://share.google/lml3y9zrrFZrAYEdv</a:t>
            </a:r>
            <a:r>
              <a:rPr lang="es-US" dirty="0"/>
              <a:t> </a:t>
            </a:r>
          </a:p>
          <a:p>
            <a:r>
              <a:rPr lang="es-US" dirty="0"/>
              <a:t>Herramientas de gestión de proyectos: guía 2026 – </a:t>
            </a:r>
            <a:r>
              <a:rPr lang="es-US" dirty="0" err="1"/>
              <a:t>Workmeter</a:t>
            </a:r>
            <a:r>
              <a:rPr lang="es-US" dirty="0"/>
              <a:t> </a:t>
            </a:r>
            <a:r>
              <a:rPr lang="es-US" dirty="0">
                <a:hlinkClick r:id="rId5"/>
              </a:rPr>
              <a:t>https://share.google/RTyxohkwZq8mtnOBP</a:t>
            </a:r>
            <a:r>
              <a:rPr lang="es-US" dirty="0"/>
              <a:t> </a:t>
            </a:r>
          </a:p>
          <a:p>
            <a:r>
              <a:rPr lang="es-US" dirty="0">
                <a:hlinkClick r:id="rId6"/>
              </a:rPr>
              <a:t>https://youtu.be/9j-nwtsPung?si=Mqn5RfDbMfFa7cGT</a:t>
            </a:r>
            <a:r>
              <a:rPr lang="es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9409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6451CC-D717-189A-1F38-FC629C26AA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472978"/>
            <a:ext cx="10363826" cy="3424107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Link de </a:t>
            </a:r>
            <a:r>
              <a:rPr lang="es-MX" dirty="0" err="1"/>
              <a:t>github</a:t>
            </a:r>
            <a:r>
              <a:rPr lang="es-MX" dirty="0"/>
              <a:t>: </a:t>
            </a:r>
            <a:r>
              <a:rPr lang="es-MX" dirty="0">
                <a:hlinkClick r:id="rId2"/>
              </a:rPr>
              <a:t>https://github.com/Angel-ortiz144/GPTI--Tema-5.git</a:t>
            </a:r>
            <a:r>
              <a:rPr lang="es-MX" dirty="0"/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DBF0DD9-8751-47B4-A0C8-250FD5AA7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34" y="968188"/>
            <a:ext cx="9906001" cy="567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197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827</TotalTime>
  <Words>1863</Words>
  <Application>Microsoft Office PowerPoint</Application>
  <PresentationFormat>Panorámica</PresentationFormat>
  <Paragraphs>82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Damask</vt:lpstr>
      <vt:lpstr>Instituto tecnológico de nacional de México  (instituto tecnológico de frontera Comalapa) </vt:lpstr>
      <vt:lpstr>Introducción </vt:lpstr>
      <vt:lpstr>JUSTIFICACIÓN</vt:lpstr>
      <vt:lpstr>Ejercicio 1: Mapeo Metodológico de Herramientas</vt:lpstr>
      <vt:lpstr>Solución Ejercicio 1</vt:lpstr>
      <vt:lpstr>Presentación de PowerPoint</vt:lpstr>
      <vt:lpstr>Presentación de PowerPoint</vt:lpstr>
      <vt:lpstr>Ejercicio 2: Análisis e Impacto de Solicitud de Cambio (SCR-LOGIX-001)</vt:lpstr>
      <vt:lpstr>Presentación de PowerPoint</vt:lpstr>
      <vt:lpstr>Solución Ejercicio 2 (Dictamen Caso LOGIX-TRACE):</vt:lpstr>
      <vt:lpstr>Ejercicio 3: Medición de Rendimiento Técnico y KPIs</vt:lpstr>
      <vt:lpstr>Presentación de PowerPoint</vt:lpstr>
      <vt:lpstr>Presentación de PowerPoint</vt:lpstr>
      <vt:lpstr>Conclusión </vt:lpstr>
      <vt:lpstr>FUENTES DE INFORMACIÓN  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Instituto tecnológico de frontera Comalapa</dc:title>
  <dc:creator>WER-PCPLUS</dc:creator>
  <cp:lastModifiedBy>ANGEL DE JESÚS MAZARIEGOS ORTIZ</cp:lastModifiedBy>
  <cp:revision>190</cp:revision>
  <dcterms:created xsi:type="dcterms:W3CDTF">2024-03-08T16:42:11Z</dcterms:created>
  <dcterms:modified xsi:type="dcterms:W3CDTF">2026-10-02T23:08:13Z</dcterms:modified>
</cp:coreProperties>
</file>