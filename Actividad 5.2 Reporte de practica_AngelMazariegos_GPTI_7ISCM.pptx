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3" r:id="rId1"/>
  </p:sldMasterIdLst>
  <p:sldIdLst>
    <p:sldId id="256" r:id="rId2"/>
    <p:sldId id="257" r:id="rId3"/>
    <p:sldId id="290" r:id="rId4"/>
    <p:sldId id="316" r:id="rId5"/>
    <p:sldId id="317" r:id="rId6"/>
    <p:sldId id="318" r:id="rId7"/>
    <p:sldId id="319" r:id="rId8"/>
    <p:sldId id="321" r:id="rId9"/>
    <p:sldId id="320" r:id="rId10"/>
    <p:sldId id="322" r:id="rId11"/>
    <p:sldId id="323" r:id="rId12"/>
    <p:sldId id="324" r:id="rId13"/>
    <p:sldId id="266" r:id="rId14"/>
    <p:sldId id="315" r:id="rId15"/>
    <p:sldId id="29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9" autoAdjust="0"/>
    <p:restoredTop sz="94660"/>
  </p:normalViewPr>
  <p:slideViewPr>
    <p:cSldViewPr snapToGrid="0">
      <p:cViewPr varScale="1">
        <p:scale>
          <a:sx n="85" d="100"/>
          <a:sy n="85" d="100"/>
        </p:scale>
        <p:origin x="40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1951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099432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187928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61816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913795" y="2912232"/>
            <a:ext cx="5107208"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912232"/>
            <a:ext cx="5095357"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912398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715955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539049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093092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886496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408719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299309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9546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57497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961985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300433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740372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276268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0374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10/2/2026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064668593"/>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1"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4" Type="http://schemas.openxmlformats.org/officeDocument/2006/relationships/image" Target="../media/image4.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5.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18.xml" /></Relationships>
</file>

<file path=ppt/slides/_rels/slide6.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18.xml" /></Relationships>
</file>

<file path=ppt/slides/_rels/slide7.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image" Target="../media/image7.jpeg" /><Relationship Id="rId1" Type="http://schemas.openxmlformats.org/officeDocument/2006/relationships/slideLayout" Target="../slideLayouts/slideLayout18.xml" /></Relationships>
</file>

<file path=ppt/slides/_rels/slide8.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image" Target="../media/image9.jpeg" /><Relationship Id="rId1" Type="http://schemas.openxmlformats.org/officeDocument/2006/relationships/slideLayout" Target="../slideLayouts/slideLayout18.xml" /><Relationship Id="rId4" Type="http://schemas.openxmlformats.org/officeDocument/2006/relationships/image" Target="../media/image11.jpeg" /></Relationships>
</file>

<file path=ppt/slides/_rels/slide9.xml.rels><?xml version="1.0" encoding="UTF-8" standalone="yes"?>
<Relationships xmlns="http://schemas.openxmlformats.org/package/2006/relationships"><Relationship Id="rId3" Type="http://schemas.openxmlformats.org/officeDocument/2006/relationships/image" Target="../media/image13.jpeg" /><Relationship Id="rId2" Type="http://schemas.openxmlformats.org/officeDocument/2006/relationships/image" Target="../media/image12.jpeg" /><Relationship Id="rId1" Type="http://schemas.openxmlformats.org/officeDocument/2006/relationships/slideLayout" Target="../slideLayouts/slideLayout18.xml" /></Relationships>
</file>

<file path=ppt/slides/_rels/slide10.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18.xml" /></Relationships>
</file>

<file path=ppt/slides/_rels/slide11.xml.rels><?xml version="1.0" encoding="UTF-8" standalone="yes"?>
<Relationships xmlns="http://schemas.openxmlformats.org/package/2006/relationships"><Relationship Id="rId2" Type="http://schemas.openxmlformats.org/officeDocument/2006/relationships/image" Target="../media/image15.jpeg" /><Relationship Id="rId1" Type="http://schemas.openxmlformats.org/officeDocument/2006/relationships/slideLayout" Target="../slideLayouts/slideLayout18.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 /></Relationships>
</file>

<file path=ppt/slides/_rels/slide14.xml.rels><?xml version="1.0" encoding="UTF-8" standalone="yes"?>
<Relationships xmlns="http://schemas.openxmlformats.org/package/2006/relationships"><Relationship Id="rId3" Type="http://schemas.openxmlformats.org/officeDocument/2006/relationships/hyperlink" Target="https://share.google/TQwGrDY4ibFeu6C3p" TargetMode="External" /><Relationship Id="rId2" Type="http://schemas.openxmlformats.org/officeDocument/2006/relationships/hyperlink" Target="https://share.google/T6QAj8llGCtqKLSVX" TargetMode="External" /><Relationship Id="rId1" Type="http://schemas.openxmlformats.org/officeDocument/2006/relationships/slideLayout" Target="../slideLayouts/slideLayout18.xml" /><Relationship Id="rId6" Type="http://schemas.openxmlformats.org/officeDocument/2006/relationships/hyperlink" Target="https://share.google/1GsAkTRkB6S5bWViq" TargetMode="External" /><Relationship Id="rId5" Type="http://schemas.openxmlformats.org/officeDocument/2006/relationships/hyperlink" Target="https://youtu.be/-mtLnAimfBA?si=IFHVDhgovUJGo214" TargetMode="External" /><Relationship Id="rId4" Type="http://schemas.openxmlformats.org/officeDocument/2006/relationships/hyperlink" Target="https://share.google/VTEAWBAapPUkRnOkH" TargetMode="External" /></Relationships>
</file>

<file path=ppt/slides/_rels/slide15.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hyperlink" Target="https://github.com/Angel-ortiz144/GPTI--Tema-5.git" TargetMode="External" /><Relationship Id="rId1" Type="http://schemas.openxmlformats.org/officeDocument/2006/relationships/slideLayout" Target="../slideLayouts/slideLayout1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13722" y="1834632"/>
            <a:ext cx="10743834" cy="1027386"/>
          </a:xfrm>
        </p:spPr>
        <p:txBody>
          <a:bodyPr>
            <a:normAutofit fontScale="90000"/>
          </a:bodyPr>
          <a:lstStyle/>
          <a:p>
            <a:pPr algn="ctr"/>
            <a:r>
              <a:rPr lang="es-MX" sz="3600" b="1" dirty="0"/>
              <a:t>Instituto tecnológico de nacional de México </a:t>
            </a:r>
            <a:br>
              <a:rPr lang="es-MX" sz="3600" b="1" dirty="0"/>
            </a:br>
            <a:r>
              <a:rPr lang="es-MX" sz="2000" b="1" dirty="0"/>
              <a:t>(instituto tecnológico de frontera Comalapa) </a:t>
            </a:r>
            <a:endParaRPr lang="es-MX" sz="3600" b="1"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0488" y="128946"/>
            <a:ext cx="3610303" cy="1482523"/>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3" y="-68067"/>
            <a:ext cx="3941380" cy="1876551"/>
          </a:xfrm>
          <a:prstGeom prst="rect">
            <a:avLst/>
          </a:prstGeom>
        </p:spPr>
      </p:pic>
      <p:sp>
        <p:nvSpPr>
          <p:cNvPr id="8" name="Título 1"/>
          <p:cNvSpPr txBox="1">
            <a:spLocks/>
          </p:cNvSpPr>
          <p:nvPr/>
        </p:nvSpPr>
        <p:spPr>
          <a:xfrm>
            <a:off x="820324" y="2862018"/>
            <a:ext cx="10330629" cy="4273801"/>
          </a:xfrm>
          <a:prstGeom prst="rect">
            <a:avLst/>
          </a:prstGeom>
        </p:spPr>
        <p:txBody>
          <a:bodyPr vert="horz" lIns="91440" tIns="45720" rIns="91440" bIns="45720" rtlCol="0" anchor="b">
            <a:normAutofit fontScale="8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r>
              <a:rPr lang="es-MX" sz="2900" b="1" dirty="0"/>
              <a:t>Presentación</a:t>
            </a:r>
          </a:p>
          <a:p>
            <a:endParaRPr lang="es-MX" sz="2900" b="1" dirty="0"/>
          </a:p>
          <a:p>
            <a:r>
              <a:rPr lang="es-MX" sz="2000" b="1" dirty="0"/>
              <a:t>Nombre del estudiante: </a:t>
            </a:r>
          </a:p>
          <a:p>
            <a:r>
              <a:rPr lang="es-MX" sz="2000" cap="none" dirty="0" err="1"/>
              <a:t>Angel</a:t>
            </a:r>
            <a:r>
              <a:rPr lang="es-MX" sz="2000" cap="none" dirty="0"/>
              <a:t> De </a:t>
            </a:r>
            <a:r>
              <a:rPr lang="es-MX" sz="2000" cap="none" dirty="0" err="1"/>
              <a:t>Jesus</a:t>
            </a:r>
            <a:r>
              <a:rPr lang="es-MX" sz="2000" cap="none" dirty="0"/>
              <a:t> Mazariegos Ortiz</a:t>
            </a:r>
          </a:p>
          <a:p>
            <a:endParaRPr lang="es-MX" sz="2000" cap="none" dirty="0"/>
          </a:p>
          <a:p>
            <a:r>
              <a:rPr lang="es-MX" sz="2000" b="1" dirty="0"/>
              <a:t>no. Control:</a:t>
            </a:r>
          </a:p>
          <a:p>
            <a:r>
              <a:rPr lang="es-MX" sz="2000" dirty="0"/>
              <a:t>231260003</a:t>
            </a:r>
          </a:p>
          <a:p>
            <a:endParaRPr lang="es-MX" sz="2000" dirty="0"/>
          </a:p>
          <a:p>
            <a:r>
              <a:rPr lang="es-MX" sz="2000" b="1" cap="none" dirty="0"/>
              <a:t>MATERIA:</a:t>
            </a:r>
          </a:p>
          <a:p>
            <a:r>
              <a:rPr lang="es-US" sz="2000" cap="none" dirty="0"/>
              <a:t>Gestión de Proyectos de TI</a:t>
            </a:r>
            <a:endParaRPr lang="es-MX" sz="2000" cap="none" dirty="0"/>
          </a:p>
          <a:p>
            <a:endParaRPr lang="es-MX" sz="2000" dirty="0"/>
          </a:p>
          <a:p>
            <a:r>
              <a:rPr lang="es-MX" sz="2000" b="1" dirty="0"/>
              <a:t>Nombre del docente:</a:t>
            </a:r>
          </a:p>
          <a:p>
            <a:r>
              <a:rPr lang="es-MX" sz="2000" cap="none" dirty="0"/>
              <a:t>Francisco Javier Velázquez Mingo</a:t>
            </a:r>
          </a:p>
          <a:p>
            <a:endParaRPr lang="es-MX" sz="2000" dirty="0"/>
          </a:p>
          <a:p>
            <a:r>
              <a:rPr lang="es-MX" sz="2000" b="1" dirty="0"/>
              <a:t>Semestre:</a:t>
            </a:r>
            <a:endParaRPr lang="es-MX" sz="2000" b="1" cap="none" dirty="0"/>
          </a:p>
          <a:p>
            <a:r>
              <a:rPr lang="es-US" sz="2000" cap="none" dirty="0"/>
              <a:t>Séptimo </a:t>
            </a:r>
            <a:r>
              <a:rPr lang="es-MX" sz="2000" cap="none" dirty="0"/>
              <a:t>Semestre </a:t>
            </a:r>
          </a:p>
          <a:p>
            <a:endParaRPr lang="es-MX" sz="2000" dirty="0"/>
          </a:p>
          <a:p>
            <a:r>
              <a:rPr lang="es-MX" sz="2000" b="1" dirty="0"/>
              <a:t>Fecha:</a:t>
            </a:r>
          </a:p>
          <a:p>
            <a:r>
              <a:rPr lang="es-US" sz="2000" dirty="0"/>
              <a:t>26/09/2026</a:t>
            </a:r>
            <a:endParaRPr lang="es-MX" sz="2000" dirty="0"/>
          </a:p>
          <a:p>
            <a:endParaRPr lang="es-MX" sz="2100" dirty="0"/>
          </a:p>
          <a:p>
            <a:r>
              <a:rPr lang="es-MX" sz="3600" dirty="0"/>
              <a:t> </a:t>
            </a:r>
            <a:r>
              <a:rPr lang="es-MX" sz="3600" b="1" dirty="0"/>
              <a:t> </a:t>
            </a:r>
          </a:p>
        </p:txBody>
      </p:sp>
      <p:pic>
        <p:nvPicPr>
          <p:cNvPr id="7" name="Imagen 6">
            <a:extLst>
              <a:ext uri="{FF2B5EF4-FFF2-40B4-BE49-F238E27FC236}">
                <a16:creationId xmlns:a16="http://schemas.microsoft.com/office/drawing/2014/main" id="{1FA55246-EC8D-4FB4-B724-80EC97353906}"/>
              </a:ext>
            </a:extLst>
          </p:cNvPr>
          <p:cNvPicPr>
            <a:picLocks noChangeAspect="1"/>
          </p:cNvPicPr>
          <p:nvPr/>
        </p:nvPicPr>
        <p:blipFill>
          <a:blip r:embed="rId4"/>
          <a:stretch>
            <a:fillRect/>
          </a:stretch>
        </p:blipFill>
        <p:spPr>
          <a:xfrm>
            <a:off x="8313685" y="0"/>
            <a:ext cx="3116315" cy="1828800"/>
          </a:xfrm>
          <a:prstGeom prst="rect">
            <a:avLst/>
          </a:prstGeom>
        </p:spPr>
      </p:pic>
      <p:pic>
        <p:nvPicPr>
          <p:cNvPr id="9" name="Imagen 8">
            <a:extLst>
              <a:ext uri="{FF2B5EF4-FFF2-40B4-BE49-F238E27FC236}">
                <a16:creationId xmlns:a16="http://schemas.microsoft.com/office/drawing/2014/main" id="{6CA0DCF5-F42E-4506-A461-330A6B57584D}"/>
              </a:ext>
            </a:extLst>
          </p:cNvPr>
          <p:cNvPicPr>
            <a:picLocks noChangeAspect="1"/>
          </p:cNvPicPr>
          <p:nvPr/>
        </p:nvPicPr>
        <p:blipFill rotWithShape="1">
          <a:blip r:embed="rId4">
            <a:lum bright="70000" contrast="-70000"/>
          </a:blip>
          <a:srcRect t="74026"/>
          <a:stretch/>
        </p:blipFill>
        <p:spPr>
          <a:xfrm>
            <a:off x="8313685" y="1356696"/>
            <a:ext cx="3116315" cy="475020"/>
          </a:xfrm>
          <a:prstGeom prst="rect">
            <a:avLst/>
          </a:prstGeom>
        </p:spPr>
      </p:pic>
    </p:spTree>
    <p:extLst>
      <p:ext uri="{BB962C8B-B14F-4D97-AF65-F5344CB8AC3E}">
        <p14:creationId xmlns:p14="http://schemas.microsoft.com/office/powerpoint/2010/main" val="72530138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83109" y="-119292"/>
            <a:ext cx="10364451" cy="1596177"/>
          </a:xfrm>
        </p:spPr>
        <p:txBody>
          <a:bodyPr/>
          <a:lstStyle/>
          <a:p>
            <a:pPr algn="ctr"/>
            <a:r>
              <a:rPr lang="es-MX" b="1" dirty="0"/>
              <a:t>Introducción </a:t>
            </a:r>
          </a:p>
        </p:txBody>
      </p:sp>
      <p:sp>
        <p:nvSpPr>
          <p:cNvPr id="3" name="Marcador de contenido 2"/>
          <p:cNvSpPr>
            <a:spLocks noGrp="1"/>
          </p:cNvSpPr>
          <p:nvPr>
            <p:ph sz="quarter" idx="13"/>
          </p:nvPr>
        </p:nvSpPr>
        <p:spPr>
          <a:xfrm>
            <a:off x="918249" y="1124519"/>
            <a:ext cx="10529311" cy="5517621"/>
          </a:xfrm>
        </p:spPr>
        <p:txBody>
          <a:bodyPr>
            <a:normAutofit/>
          </a:bodyPr>
          <a:lstStyle/>
          <a:p>
            <a:pPr marL="0" indent="0" algn="just">
              <a:buNone/>
            </a:pPr>
            <a:r>
              <a:rPr lang="es-US" sz="1800" dirty="0">
                <a:effectLst/>
              </a:rPr>
              <a:t>En el ámbito de la gestión de proyectos de tecnologías de la información (TI), la selección y aplicación adecuada de herramientas de software es fundamental para garantizar el cumplimiento de los plazos, la calidad de los entregables y el control adecuado de los recursos. Este trabajo aborda la evaluación e integración de plataformas clave como Microsoft Project, Jira Software y </a:t>
            </a:r>
            <a:r>
              <a:rPr lang="es-US" sz="1800" dirty="0" err="1">
                <a:effectLst/>
              </a:rPr>
              <a:t>Trello</a:t>
            </a:r>
            <a:r>
              <a:rPr lang="es-US" sz="1800" dirty="0">
                <a:effectLst/>
              </a:rPr>
              <a:t>, adaptadas a las necesidades metodológicas y niveles de complejidad específicos de los proyectos del portafolio: OAS (PRJ-OAS-2026-01), LOGIX-TRACE (PRJ-LOGIX-2026-01) y SIGHECD (PRJ-SIGHECD-2026-02). Asimismo, se establece un procedimiento estandarizado para la gobernanza del control de cambios y se definen mecanismos dinámicos de seguimiento para asegurar la trazabilidad y el éxito en la ejecución de cada iniciativa.</a:t>
            </a:r>
            <a:endParaRPr lang="es-MX" sz="1800" dirty="0">
              <a:effectLst/>
            </a:endParaRPr>
          </a:p>
        </p:txBody>
      </p:sp>
    </p:spTree>
    <p:extLst>
      <p:ext uri="{BB962C8B-B14F-4D97-AF65-F5344CB8AC3E}">
        <p14:creationId xmlns:p14="http://schemas.microsoft.com/office/powerpoint/2010/main" val="123229640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96DCB7-4A5B-B10C-1BC9-2108E5E4FF8B}"/>
              </a:ext>
            </a:extLst>
          </p:cNvPr>
          <p:cNvSpPr>
            <a:spLocks noGrp="1"/>
          </p:cNvSpPr>
          <p:nvPr>
            <p:ph type="title"/>
          </p:nvPr>
        </p:nvSpPr>
        <p:spPr>
          <a:xfrm>
            <a:off x="914087" y="-331799"/>
            <a:ext cx="10353761" cy="1326321"/>
          </a:xfrm>
        </p:spPr>
        <p:txBody>
          <a:bodyPr/>
          <a:lstStyle/>
          <a:p>
            <a:r>
              <a:rPr lang="es-US" dirty="0"/>
              <a:t>JUSTIFICACIÓN</a:t>
            </a:r>
          </a:p>
        </p:txBody>
      </p:sp>
      <p:sp>
        <p:nvSpPr>
          <p:cNvPr id="3" name="Marcador de contenido 2">
            <a:extLst>
              <a:ext uri="{FF2B5EF4-FFF2-40B4-BE49-F238E27FC236}">
                <a16:creationId xmlns:a16="http://schemas.microsoft.com/office/drawing/2014/main" id="{AE72E3CF-E2AD-28F8-DF10-5DF1E7BEF702}"/>
              </a:ext>
            </a:extLst>
          </p:cNvPr>
          <p:cNvSpPr>
            <a:spLocks noGrp="1"/>
          </p:cNvSpPr>
          <p:nvPr>
            <p:ph sz="quarter" idx="13"/>
          </p:nvPr>
        </p:nvSpPr>
        <p:spPr>
          <a:xfrm>
            <a:off x="257552" y="786281"/>
            <a:ext cx="11740839" cy="6097422"/>
          </a:xfrm>
        </p:spPr>
        <p:txBody>
          <a:bodyPr>
            <a:normAutofit/>
          </a:bodyPr>
          <a:lstStyle/>
          <a:p>
            <a:pPr marL="0" indent="0" algn="just">
              <a:buNone/>
            </a:pPr>
            <a:r>
              <a:rPr lang="es-US" sz="1800" dirty="0"/>
              <a:t>Cada proyecto dentro de un portafolio de TI posee características, restricciones normativas y dinámicas operativas distintas que impiden la adopción de una solución tecnológica única e inflexible:</a:t>
            </a:r>
          </a:p>
          <a:p>
            <a:pPr marL="342900" indent="-342900" algn="just">
              <a:buFont typeface="+mj-lt"/>
              <a:buAutoNum type="arabicPeriod"/>
            </a:pPr>
            <a:r>
              <a:rPr lang="es-US" sz="1800" b="1" dirty="0">
                <a:solidFill>
                  <a:srgbClr val="FF0000"/>
                </a:solidFill>
              </a:rPr>
              <a:t>Diversidad Metodológica: </a:t>
            </a:r>
            <a:r>
              <a:rPr lang="es-US" sz="1800" dirty="0"/>
              <a:t>Mientras que proyectos centrados en desarrollo </a:t>
            </a:r>
            <a:r>
              <a:rPr lang="es-US" sz="1800" dirty="0" err="1"/>
              <a:t>backend</a:t>
            </a:r>
            <a:r>
              <a:rPr lang="es-US" sz="1800" dirty="0"/>
              <a:t>/</a:t>
            </a:r>
            <a:r>
              <a:rPr lang="es-US" sz="1800" dirty="0" err="1"/>
              <a:t>frontend</a:t>
            </a:r>
            <a:r>
              <a:rPr lang="es-US" sz="1800" dirty="0"/>
              <a:t> (como OAS) se benefician del enfoque ágil de Jira Software con la gestión de </a:t>
            </a:r>
            <a:r>
              <a:rPr lang="es-US" sz="1800" dirty="0" err="1"/>
              <a:t>Sprints</a:t>
            </a:r>
            <a:r>
              <a:rPr lang="es-US" sz="1800" dirty="0"/>
              <a:t> e integración CI/CD, proyectos con despliegue operativo en campo (como LOGIX-TRACE) requieren la simplicidad visual de </a:t>
            </a:r>
            <a:r>
              <a:rPr lang="es-US" sz="1800" dirty="0" err="1"/>
              <a:t>Trello</a:t>
            </a:r>
            <a:r>
              <a:rPr lang="es-US" sz="1800" dirty="0"/>
              <a:t> para coordinar tareas con actores no técnicos en tiempo real.</a:t>
            </a:r>
          </a:p>
          <a:p>
            <a:pPr marL="342900" indent="-342900" algn="just">
              <a:buFont typeface="+mj-lt"/>
              <a:buAutoNum type="arabicPeriod"/>
            </a:pPr>
            <a:r>
              <a:rPr lang="es-US" sz="1800" b="1" dirty="0">
                <a:solidFill>
                  <a:srgbClr val="FF0000"/>
                </a:solidFill>
              </a:rPr>
              <a:t>Cumplimiento Normativo y Control de Ruta Crítica: </a:t>
            </a:r>
            <a:r>
              <a:rPr lang="es-US" sz="1800" dirty="0"/>
              <a:t>Proyectos complejos y fuertemente regulados como SIGHECD exigen el rigor de Microsoft Project para controlar dependencias críticas e hitos estandarizados (HL7/FHIR, </a:t>
            </a:r>
            <a:r>
              <a:rPr lang="es-US" sz="1800" dirty="0" err="1"/>
              <a:t>PenTesting</a:t>
            </a:r>
            <a:r>
              <a:rPr lang="es-US" sz="1800" dirty="0"/>
              <a:t>), combinado con Jira para el seguimiento técnico a nivel de </a:t>
            </a:r>
            <a:r>
              <a:rPr lang="es-US" sz="1800" dirty="0" err="1"/>
              <a:t>microservicios</a:t>
            </a:r>
            <a:r>
              <a:rPr lang="es-US" sz="1800" dirty="0"/>
              <a:t>.</a:t>
            </a:r>
          </a:p>
          <a:p>
            <a:pPr marL="342900" indent="-342900" algn="just">
              <a:buFont typeface="+mj-lt"/>
              <a:buAutoNum type="arabicPeriod"/>
            </a:pPr>
            <a:r>
              <a:rPr lang="es-US" sz="1800" b="1" dirty="0">
                <a:solidFill>
                  <a:srgbClr val="FF0000"/>
                </a:solidFill>
              </a:rPr>
              <a:t>Gobernanza y Mitigación de Riesgos:</a:t>
            </a:r>
            <a:r>
              <a:rPr lang="es-US" sz="1800" dirty="0"/>
              <a:t> La definición de un flujo de control de cambios integrado (RFC y evaluación mediante Comité de Cambios/CCB) y una matriz RACI evita la alteración descontrolada del alcance (</a:t>
            </a:r>
            <a:r>
              <a:rPr lang="es-US" sz="1800" dirty="0" err="1"/>
              <a:t>scope</a:t>
            </a:r>
            <a:r>
              <a:rPr lang="es-US" sz="1800" dirty="0"/>
              <a:t> </a:t>
            </a:r>
            <a:r>
              <a:rPr lang="es-US" sz="1800" dirty="0" err="1"/>
              <a:t>creep</a:t>
            </a:r>
            <a:r>
              <a:rPr lang="es-US" sz="1800" dirty="0"/>
              <a:t>), salvaguardando los plazos estrictos de 10 a 12 semanas y los presupuestos asignados.</a:t>
            </a:r>
          </a:p>
        </p:txBody>
      </p:sp>
    </p:spTree>
    <p:extLst>
      <p:ext uri="{BB962C8B-B14F-4D97-AF65-F5344CB8AC3E}">
        <p14:creationId xmlns:p14="http://schemas.microsoft.com/office/powerpoint/2010/main" val="679947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F6EF4D-09D2-F601-D958-6916113303F4}"/>
              </a:ext>
            </a:extLst>
          </p:cNvPr>
          <p:cNvSpPr>
            <a:spLocks noGrp="1"/>
          </p:cNvSpPr>
          <p:nvPr>
            <p:ph type="title"/>
          </p:nvPr>
        </p:nvSpPr>
        <p:spPr>
          <a:xfrm>
            <a:off x="923839" y="0"/>
            <a:ext cx="10353761" cy="1326321"/>
          </a:xfrm>
        </p:spPr>
        <p:txBody>
          <a:bodyPr/>
          <a:lstStyle/>
          <a:p>
            <a:r>
              <a:rPr lang="es-US" dirty="0"/>
              <a:t>Objetivos</a:t>
            </a:r>
          </a:p>
        </p:txBody>
      </p:sp>
      <p:sp>
        <p:nvSpPr>
          <p:cNvPr id="3" name="Marcador de contenido 2">
            <a:extLst>
              <a:ext uri="{FF2B5EF4-FFF2-40B4-BE49-F238E27FC236}">
                <a16:creationId xmlns:a16="http://schemas.microsoft.com/office/drawing/2014/main" id="{0F083CCF-EB81-92B3-C7BE-99A4A1BA09AF}"/>
              </a:ext>
            </a:extLst>
          </p:cNvPr>
          <p:cNvSpPr>
            <a:spLocks noGrp="1"/>
          </p:cNvSpPr>
          <p:nvPr>
            <p:ph sz="quarter" idx="13"/>
          </p:nvPr>
        </p:nvSpPr>
        <p:spPr>
          <a:xfrm>
            <a:off x="913774" y="1025236"/>
            <a:ext cx="10363826" cy="5237018"/>
          </a:xfrm>
        </p:spPr>
        <p:txBody>
          <a:bodyPr/>
          <a:lstStyle/>
          <a:p>
            <a:pPr marL="0" indent="0">
              <a:buNone/>
            </a:pPr>
            <a:r>
              <a:rPr lang="es-US" b="1" dirty="0">
                <a:solidFill>
                  <a:srgbClr val="00B0F0"/>
                </a:solidFill>
              </a:rPr>
              <a:t>Objetivos de la Práctica</a:t>
            </a:r>
          </a:p>
          <a:p>
            <a:pPr algn="just"/>
            <a:r>
              <a:rPr lang="es-US" b="1" dirty="0">
                <a:solidFill>
                  <a:srgbClr val="FF0000"/>
                </a:solidFill>
              </a:rPr>
              <a:t>Objetivo General: </a:t>
            </a:r>
            <a:r>
              <a:rPr lang="es-US" dirty="0"/>
              <a:t>Evaluar e integrar las herramientas de software de gestión de proyectos de TI para la planificación, seguimiento de tareas y gobierno del proceso de control de cambios en las iniciativas del portafolio.</a:t>
            </a:r>
          </a:p>
          <a:p>
            <a:pPr algn="just"/>
            <a:r>
              <a:rPr lang="es-US" b="1" dirty="0">
                <a:solidFill>
                  <a:srgbClr val="FF0000"/>
                </a:solidFill>
              </a:rPr>
              <a:t>Objetivos Específicos:</a:t>
            </a:r>
          </a:p>
          <a:p>
            <a:pPr marL="457200" indent="-457200" algn="just">
              <a:buFont typeface="+mj-lt"/>
              <a:buAutoNum type="arabicPeriod"/>
            </a:pPr>
            <a:r>
              <a:rPr lang="es-US" dirty="0"/>
              <a:t>Seleccionar la herramienta tecnológica más adecuada (Microsoft Project, Jira o </a:t>
            </a:r>
            <a:r>
              <a:rPr lang="es-US" dirty="0" err="1"/>
              <a:t>Trello</a:t>
            </a:r>
            <a:r>
              <a:rPr lang="es-US" dirty="0"/>
              <a:t>) según el enfoque metodológico y complejidad de cada proyecto.   </a:t>
            </a:r>
          </a:p>
          <a:p>
            <a:pPr marL="457200" indent="-457200" algn="just">
              <a:buFont typeface="+mj-lt"/>
              <a:buAutoNum type="arabicPeriod"/>
            </a:pPr>
            <a:r>
              <a:rPr lang="es-US" dirty="0"/>
              <a:t>Diseñar un procedimiento estandarizado para el control de cambios que regule las solicitudes de modificación durante el ciclo de vida del desarrollo.   </a:t>
            </a:r>
          </a:p>
          <a:p>
            <a:pPr marL="457200" indent="-457200" algn="just">
              <a:buFont typeface="+mj-lt"/>
              <a:buAutoNum type="arabicPeriod"/>
            </a:pPr>
            <a:r>
              <a:rPr lang="es-US" dirty="0"/>
              <a:t>Definir los mecanismos de seguimiento de avance mediante tableros dinámicos, gráficos de rendimiento y control de versiones.</a:t>
            </a:r>
          </a:p>
        </p:txBody>
      </p:sp>
    </p:spTree>
    <p:extLst>
      <p:ext uri="{BB962C8B-B14F-4D97-AF65-F5344CB8AC3E}">
        <p14:creationId xmlns:p14="http://schemas.microsoft.com/office/powerpoint/2010/main" val="4258243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C965DB-F488-406A-7F33-3EE509191631}"/>
              </a:ext>
            </a:extLst>
          </p:cNvPr>
          <p:cNvSpPr>
            <a:spLocks noGrp="1"/>
          </p:cNvSpPr>
          <p:nvPr>
            <p:ph type="title"/>
          </p:nvPr>
        </p:nvSpPr>
        <p:spPr/>
        <p:txBody>
          <a:bodyPr/>
          <a:lstStyle/>
          <a:p>
            <a:r>
              <a:rPr lang="es-US" dirty="0"/>
              <a:t>CONTEXTO OPERATIVO Y EQUIPOS DE PROYECTO</a:t>
            </a:r>
          </a:p>
        </p:txBody>
      </p:sp>
      <p:sp>
        <p:nvSpPr>
          <p:cNvPr id="3" name="Marcador de contenido 2">
            <a:extLst>
              <a:ext uri="{FF2B5EF4-FFF2-40B4-BE49-F238E27FC236}">
                <a16:creationId xmlns:a16="http://schemas.microsoft.com/office/drawing/2014/main" id="{6DFA3CBC-1987-3CC9-EB18-EE4BC8032C4F}"/>
              </a:ext>
            </a:extLst>
          </p:cNvPr>
          <p:cNvSpPr>
            <a:spLocks noGrp="1"/>
          </p:cNvSpPr>
          <p:nvPr>
            <p:ph sz="quarter" idx="13"/>
          </p:nvPr>
        </p:nvSpPr>
        <p:spPr>
          <a:xfrm>
            <a:off x="913774" y="2053580"/>
            <a:ext cx="10363826" cy="3424107"/>
          </a:xfrm>
        </p:spPr>
        <p:txBody>
          <a:bodyPr/>
          <a:lstStyle/>
          <a:p>
            <a:pPr marL="0" indent="0">
              <a:buNone/>
            </a:pPr>
            <a:r>
              <a:rPr lang="es-US" dirty="0"/>
              <a:t>El análisis y la selección de software se fundamentan en las estructuras de equipo y restricciones de entrega definidas en los documentos.</a:t>
            </a:r>
          </a:p>
        </p:txBody>
      </p:sp>
      <p:pic>
        <p:nvPicPr>
          <p:cNvPr id="6" name="Imagen 5">
            <a:extLst>
              <a:ext uri="{FF2B5EF4-FFF2-40B4-BE49-F238E27FC236}">
                <a16:creationId xmlns:a16="http://schemas.microsoft.com/office/drawing/2014/main" id="{B79E308D-EF28-7540-7B92-DB1B88C84908}"/>
              </a:ext>
            </a:extLst>
          </p:cNvPr>
          <p:cNvPicPr>
            <a:picLocks noChangeAspect="1"/>
          </p:cNvPicPr>
          <p:nvPr/>
        </p:nvPicPr>
        <p:blipFill>
          <a:blip r:embed="rId2"/>
          <a:stretch>
            <a:fillRect/>
          </a:stretch>
        </p:blipFill>
        <p:spPr>
          <a:xfrm>
            <a:off x="913773" y="2978331"/>
            <a:ext cx="9915335" cy="3069772"/>
          </a:xfrm>
          <a:prstGeom prst="rect">
            <a:avLst/>
          </a:prstGeom>
        </p:spPr>
      </p:pic>
    </p:spTree>
    <p:extLst>
      <p:ext uri="{BB962C8B-B14F-4D97-AF65-F5344CB8AC3E}">
        <p14:creationId xmlns:p14="http://schemas.microsoft.com/office/powerpoint/2010/main" val="2481621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768437-A29B-DEB5-A1D7-116717C0A01E}"/>
              </a:ext>
            </a:extLst>
          </p:cNvPr>
          <p:cNvSpPr>
            <a:spLocks noGrp="1"/>
          </p:cNvSpPr>
          <p:nvPr>
            <p:ph type="title"/>
          </p:nvPr>
        </p:nvSpPr>
        <p:spPr>
          <a:xfrm>
            <a:off x="913774" y="67852"/>
            <a:ext cx="10353761" cy="1326321"/>
          </a:xfrm>
        </p:spPr>
        <p:txBody>
          <a:bodyPr/>
          <a:lstStyle/>
          <a:p>
            <a:r>
              <a:rPr lang="es-US" dirty="0"/>
              <a:t>SELECCIÓN Y APLICACIÓN DE HERRAMIENTAS TECNOLÓGICAS</a:t>
            </a:r>
          </a:p>
        </p:txBody>
      </p:sp>
      <p:sp>
        <p:nvSpPr>
          <p:cNvPr id="3" name="Marcador de contenido 2">
            <a:extLst>
              <a:ext uri="{FF2B5EF4-FFF2-40B4-BE49-F238E27FC236}">
                <a16:creationId xmlns:a16="http://schemas.microsoft.com/office/drawing/2014/main" id="{1FD33C94-7B10-262C-67A8-EE1346B2F406}"/>
              </a:ext>
            </a:extLst>
          </p:cNvPr>
          <p:cNvSpPr>
            <a:spLocks noGrp="1"/>
          </p:cNvSpPr>
          <p:nvPr>
            <p:ph sz="quarter" idx="13"/>
          </p:nvPr>
        </p:nvSpPr>
        <p:spPr>
          <a:xfrm>
            <a:off x="1173628" y="1594434"/>
            <a:ext cx="10363826" cy="3424107"/>
          </a:xfrm>
        </p:spPr>
        <p:txBody>
          <a:bodyPr/>
          <a:lstStyle/>
          <a:p>
            <a:pPr marL="457200" indent="-457200">
              <a:buAutoNum type="arabicPeriod"/>
            </a:pPr>
            <a:r>
              <a:rPr lang="es-US" b="1" dirty="0">
                <a:solidFill>
                  <a:srgbClr val="00B0F0"/>
                </a:solidFill>
              </a:rPr>
              <a:t>Evaluación Comparativa de Software de Gestión</a:t>
            </a:r>
          </a:p>
        </p:txBody>
      </p:sp>
      <p:pic>
        <p:nvPicPr>
          <p:cNvPr id="6" name="Imagen 5">
            <a:extLst>
              <a:ext uri="{FF2B5EF4-FFF2-40B4-BE49-F238E27FC236}">
                <a16:creationId xmlns:a16="http://schemas.microsoft.com/office/drawing/2014/main" id="{06745047-2B1A-34F1-35FE-38D949C10291}"/>
              </a:ext>
            </a:extLst>
          </p:cNvPr>
          <p:cNvPicPr>
            <a:picLocks noChangeAspect="1"/>
          </p:cNvPicPr>
          <p:nvPr/>
        </p:nvPicPr>
        <p:blipFill>
          <a:blip r:embed="rId2"/>
          <a:stretch>
            <a:fillRect/>
          </a:stretch>
        </p:blipFill>
        <p:spPr>
          <a:xfrm>
            <a:off x="799301" y="2113706"/>
            <a:ext cx="10219071" cy="3487342"/>
          </a:xfrm>
          <a:prstGeom prst="rect">
            <a:avLst/>
          </a:prstGeom>
        </p:spPr>
      </p:pic>
    </p:spTree>
    <p:extLst>
      <p:ext uri="{BB962C8B-B14F-4D97-AF65-F5344CB8AC3E}">
        <p14:creationId xmlns:p14="http://schemas.microsoft.com/office/powerpoint/2010/main" val="902772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54ED097-AA9A-0742-6ED3-3DA2DDF18EA7}"/>
              </a:ext>
            </a:extLst>
          </p:cNvPr>
          <p:cNvSpPr>
            <a:spLocks noGrp="1"/>
          </p:cNvSpPr>
          <p:nvPr>
            <p:ph sz="quarter" idx="13"/>
          </p:nvPr>
        </p:nvSpPr>
        <p:spPr>
          <a:xfrm>
            <a:off x="914087" y="8336"/>
            <a:ext cx="10363826" cy="5643677"/>
          </a:xfrm>
        </p:spPr>
        <p:txBody>
          <a:bodyPr/>
          <a:lstStyle/>
          <a:p>
            <a:pPr marL="457200" indent="-457200">
              <a:buAutoNum type="arabicPeriod" startAt="2"/>
            </a:pPr>
            <a:r>
              <a:rPr lang="es-US" b="1" dirty="0">
                <a:solidFill>
                  <a:srgbClr val="00B0F0"/>
                </a:solidFill>
              </a:rPr>
              <a:t>Estrategia de Implementación por Proyecto</a:t>
            </a:r>
          </a:p>
          <a:p>
            <a:pPr marL="0" indent="0">
              <a:buNone/>
            </a:pPr>
            <a:r>
              <a:rPr lang="es-US" b="1" dirty="0"/>
              <a:t>Proyecto OAS (PRJ-OAS-2026-01) — Jira Software</a:t>
            </a:r>
          </a:p>
          <a:p>
            <a:pPr algn="just"/>
            <a:r>
              <a:rPr lang="es-US" b="1" dirty="0">
                <a:solidFill>
                  <a:srgbClr val="FF0000"/>
                </a:solidFill>
              </a:rPr>
              <a:t>Mapeo de </a:t>
            </a:r>
            <a:r>
              <a:rPr lang="es-US" b="1" dirty="0" err="1">
                <a:solidFill>
                  <a:srgbClr val="FF0000"/>
                </a:solidFill>
              </a:rPr>
              <a:t>Sprints</a:t>
            </a:r>
            <a:r>
              <a:rPr lang="es-US" b="1" dirty="0">
                <a:solidFill>
                  <a:srgbClr val="FF0000"/>
                </a:solidFill>
              </a:rPr>
              <a:t>: </a:t>
            </a:r>
            <a:r>
              <a:rPr lang="es-US" dirty="0"/>
              <a:t>Se estructuran 3 </a:t>
            </a:r>
            <a:r>
              <a:rPr lang="es-US" dirty="0" err="1"/>
              <a:t>Sprints</a:t>
            </a:r>
            <a:r>
              <a:rPr lang="es-US" dirty="0"/>
              <a:t> de desarrollo en Jira Software para coordinar el trabajo en Java 17+, Spring </a:t>
            </a:r>
            <a:r>
              <a:rPr lang="es-US" dirty="0" err="1"/>
              <a:t>Boot</a:t>
            </a:r>
            <a:r>
              <a:rPr lang="es-US" dirty="0"/>
              <a:t> y </a:t>
            </a:r>
            <a:r>
              <a:rPr lang="es-US" dirty="0" err="1"/>
              <a:t>React</a:t>
            </a:r>
            <a:r>
              <a:rPr lang="es-US" dirty="0"/>
              <a:t>.</a:t>
            </a:r>
          </a:p>
          <a:p>
            <a:pPr algn="just"/>
            <a:r>
              <a:rPr lang="es-US" b="1" dirty="0">
                <a:solidFill>
                  <a:srgbClr val="FF0000"/>
                </a:solidFill>
              </a:rPr>
              <a:t>Estructura de Tareas: </a:t>
            </a:r>
            <a:r>
              <a:rPr lang="es-US" dirty="0"/>
              <a:t>Épicas (</a:t>
            </a:r>
            <a:r>
              <a:rPr lang="es-US" dirty="0" err="1"/>
              <a:t>Epics</a:t>
            </a:r>
            <a:r>
              <a:rPr lang="es-US" dirty="0"/>
              <a:t>) divididas en Historias de Usuario para el </a:t>
            </a:r>
            <a:r>
              <a:rPr lang="es-US" dirty="0" err="1"/>
              <a:t>backend</a:t>
            </a:r>
            <a:r>
              <a:rPr lang="es-US" dirty="0"/>
              <a:t> REST, autenticación JWT, motor de exámenes y pruebas con </a:t>
            </a:r>
            <a:r>
              <a:rPr lang="es-US" dirty="0" err="1"/>
              <a:t>Jmeter</a:t>
            </a:r>
            <a:r>
              <a:rPr lang="es-US" dirty="0"/>
              <a:t>.</a:t>
            </a:r>
          </a:p>
          <a:p>
            <a:pPr algn="just"/>
            <a:r>
              <a:rPr lang="es-US" b="1" dirty="0">
                <a:solidFill>
                  <a:srgbClr val="FF0000"/>
                </a:solidFill>
              </a:rPr>
              <a:t>Integración CI y CD: </a:t>
            </a:r>
            <a:r>
              <a:rPr lang="es-US" dirty="0"/>
              <a:t>Vinculación de tableros Jira con repositorios </a:t>
            </a:r>
            <a:r>
              <a:rPr lang="es-US" dirty="0" err="1"/>
              <a:t>Git</a:t>
            </a:r>
            <a:r>
              <a:rPr lang="es-US" dirty="0"/>
              <a:t> y contenedores </a:t>
            </a:r>
            <a:r>
              <a:rPr lang="es-US" dirty="0" err="1"/>
              <a:t>Docker</a:t>
            </a:r>
            <a:r>
              <a:rPr lang="es-US" dirty="0"/>
              <a:t> para actualizar el estado del bug tracking automáticamente tras cada </a:t>
            </a:r>
            <a:r>
              <a:rPr lang="es-US" dirty="0" err="1"/>
              <a:t>commit</a:t>
            </a:r>
            <a:r>
              <a:rPr lang="es-US" dirty="0"/>
              <a:t>.</a:t>
            </a:r>
          </a:p>
        </p:txBody>
      </p:sp>
      <p:pic>
        <p:nvPicPr>
          <p:cNvPr id="8" name="Imagen 7">
            <a:extLst>
              <a:ext uri="{FF2B5EF4-FFF2-40B4-BE49-F238E27FC236}">
                <a16:creationId xmlns:a16="http://schemas.microsoft.com/office/drawing/2014/main" id="{99411D05-E333-68F7-A064-FDDEBA07855C}"/>
              </a:ext>
            </a:extLst>
          </p:cNvPr>
          <p:cNvPicPr>
            <a:picLocks noChangeAspect="1"/>
          </p:cNvPicPr>
          <p:nvPr/>
        </p:nvPicPr>
        <p:blipFill>
          <a:blip r:embed="rId2"/>
          <a:stretch>
            <a:fillRect/>
          </a:stretch>
        </p:blipFill>
        <p:spPr>
          <a:xfrm>
            <a:off x="3281573" y="6265628"/>
            <a:ext cx="4604861" cy="491455"/>
          </a:xfrm>
          <a:prstGeom prst="rect">
            <a:avLst/>
          </a:prstGeom>
        </p:spPr>
      </p:pic>
      <p:pic>
        <p:nvPicPr>
          <p:cNvPr id="11" name="Imagen 10">
            <a:extLst>
              <a:ext uri="{FF2B5EF4-FFF2-40B4-BE49-F238E27FC236}">
                <a16:creationId xmlns:a16="http://schemas.microsoft.com/office/drawing/2014/main" id="{F7B7F388-9831-FF57-9623-F1B45C095C05}"/>
              </a:ext>
            </a:extLst>
          </p:cNvPr>
          <p:cNvPicPr>
            <a:picLocks noChangeAspect="1"/>
          </p:cNvPicPr>
          <p:nvPr/>
        </p:nvPicPr>
        <p:blipFill>
          <a:blip r:embed="rId3"/>
          <a:stretch>
            <a:fillRect/>
          </a:stretch>
        </p:blipFill>
        <p:spPr>
          <a:xfrm>
            <a:off x="3281573" y="3858846"/>
            <a:ext cx="4604861" cy="2640937"/>
          </a:xfrm>
          <a:prstGeom prst="rect">
            <a:avLst/>
          </a:prstGeom>
        </p:spPr>
      </p:pic>
    </p:spTree>
    <p:extLst>
      <p:ext uri="{BB962C8B-B14F-4D97-AF65-F5344CB8AC3E}">
        <p14:creationId xmlns:p14="http://schemas.microsoft.com/office/powerpoint/2010/main" val="3759655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D3B5066-1824-26EA-C1B8-1E97714B735C}"/>
              </a:ext>
            </a:extLst>
          </p:cNvPr>
          <p:cNvSpPr>
            <a:spLocks noGrp="1"/>
          </p:cNvSpPr>
          <p:nvPr>
            <p:ph sz="quarter" idx="13"/>
          </p:nvPr>
        </p:nvSpPr>
        <p:spPr>
          <a:xfrm>
            <a:off x="914087" y="146812"/>
            <a:ext cx="10363826" cy="3424107"/>
          </a:xfrm>
        </p:spPr>
        <p:txBody>
          <a:bodyPr/>
          <a:lstStyle/>
          <a:p>
            <a:pPr marL="457200" indent="-457200">
              <a:buAutoNum type="arabicPeriod" startAt="3"/>
            </a:pPr>
            <a:r>
              <a:rPr lang="es-US" b="1" dirty="0">
                <a:solidFill>
                  <a:srgbClr val="00B0F0"/>
                </a:solidFill>
              </a:rPr>
              <a:t>Proyecto LOGIX-TRACE (PRJ-LOGIX-2026-01) con Jira + </a:t>
            </a:r>
            <a:r>
              <a:rPr lang="es-US" b="1" dirty="0" err="1">
                <a:solidFill>
                  <a:srgbClr val="00B0F0"/>
                </a:solidFill>
              </a:rPr>
              <a:t>Trello</a:t>
            </a:r>
            <a:endParaRPr lang="es-US" b="1" dirty="0">
              <a:solidFill>
                <a:srgbClr val="00B0F0"/>
              </a:solidFill>
            </a:endParaRPr>
          </a:p>
          <a:p>
            <a:pPr algn="just"/>
            <a:r>
              <a:rPr lang="es-US" b="1" dirty="0">
                <a:solidFill>
                  <a:srgbClr val="FF0000"/>
                </a:solidFill>
              </a:rPr>
              <a:t>Jira Software (</a:t>
            </a:r>
            <a:r>
              <a:rPr lang="es-US" b="1" dirty="0" err="1">
                <a:solidFill>
                  <a:srgbClr val="FF0000"/>
                </a:solidFill>
              </a:rPr>
              <a:t>Backend</a:t>
            </a:r>
            <a:r>
              <a:rPr lang="es-US" b="1" dirty="0">
                <a:solidFill>
                  <a:srgbClr val="FF0000"/>
                </a:solidFill>
              </a:rPr>
              <a:t> y </a:t>
            </a:r>
            <a:r>
              <a:rPr lang="es-US" b="1" dirty="0" err="1">
                <a:solidFill>
                  <a:srgbClr val="FF0000"/>
                </a:solidFill>
              </a:rPr>
              <a:t>IoT</a:t>
            </a:r>
            <a:r>
              <a:rPr lang="es-US" b="1" dirty="0">
                <a:solidFill>
                  <a:srgbClr val="FF0000"/>
                </a:solidFill>
              </a:rPr>
              <a:t>): </a:t>
            </a:r>
            <a:r>
              <a:rPr lang="es-US" dirty="0"/>
              <a:t>Seguimiento ágil del motor de geolocalización, consumo de </a:t>
            </a:r>
            <a:r>
              <a:rPr lang="es-US" dirty="0" err="1"/>
              <a:t>WebSockets</a:t>
            </a:r>
            <a:r>
              <a:rPr lang="es-US" dirty="0"/>
              <a:t> y desarrollo de la app móvil para conductores.</a:t>
            </a:r>
          </a:p>
          <a:p>
            <a:pPr algn="just"/>
            <a:r>
              <a:rPr lang="es-US" b="1" dirty="0" err="1">
                <a:solidFill>
                  <a:srgbClr val="FF0000"/>
                </a:solidFill>
              </a:rPr>
              <a:t>Trello</a:t>
            </a:r>
            <a:r>
              <a:rPr lang="es-US" b="1" dirty="0">
                <a:solidFill>
                  <a:srgbClr val="FF0000"/>
                </a:solidFill>
              </a:rPr>
              <a:t> (Despliegue Operativo): </a:t>
            </a:r>
            <a:r>
              <a:rPr lang="es-US" dirty="0"/>
              <a:t>Tablero visual compartido con el Director de Operaciones y Flotas para la entrega de equipos celulares a conductores, capacitación presencial y pruebas piloto en 10 unidades.</a:t>
            </a:r>
          </a:p>
          <a:p>
            <a:pPr marL="0" indent="0">
              <a:buNone/>
            </a:pPr>
            <a:endParaRPr lang="es-US" dirty="0"/>
          </a:p>
        </p:txBody>
      </p:sp>
      <p:pic>
        <p:nvPicPr>
          <p:cNvPr id="6" name="Imagen 5">
            <a:extLst>
              <a:ext uri="{FF2B5EF4-FFF2-40B4-BE49-F238E27FC236}">
                <a16:creationId xmlns:a16="http://schemas.microsoft.com/office/drawing/2014/main" id="{4B3A30E5-66BB-D1B3-85B8-679C0343FE99}"/>
              </a:ext>
            </a:extLst>
          </p:cNvPr>
          <p:cNvPicPr>
            <a:picLocks noChangeAspect="1"/>
          </p:cNvPicPr>
          <p:nvPr/>
        </p:nvPicPr>
        <p:blipFill>
          <a:blip r:embed="rId2"/>
          <a:stretch>
            <a:fillRect/>
          </a:stretch>
        </p:blipFill>
        <p:spPr>
          <a:xfrm>
            <a:off x="267766" y="2794525"/>
            <a:ext cx="6096888" cy="2601117"/>
          </a:xfrm>
          <a:prstGeom prst="rect">
            <a:avLst/>
          </a:prstGeom>
        </p:spPr>
      </p:pic>
      <p:pic>
        <p:nvPicPr>
          <p:cNvPr id="9" name="Imagen 8">
            <a:extLst>
              <a:ext uri="{FF2B5EF4-FFF2-40B4-BE49-F238E27FC236}">
                <a16:creationId xmlns:a16="http://schemas.microsoft.com/office/drawing/2014/main" id="{C9F8DB9F-F907-3D9B-ACCF-6EDE43DDD7F6}"/>
              </a:ext>
            </a:extLst>
          </p:cNvPr>
          <p:cNvPicPr>
            <a:picLocks noChangeAspect="1"/>
          </p:cNvPicPr>
          <p:nvPr/>
        </p:nvPicPr>
        <p:blipFill>
          <a:blip r:embed="rId3"/>
          <a:srcRect/>
          <a:stretch>
            <a:fillRect/>
          </a:stretch>
        </p:blipFill>
        <p:spPr>
          <a:xfrm>
            <a:off x="267766" y="5395642"/>
            <a:ext cx="6096888" cy="576910"/>
          </a:xfrm>
          <a:prstGeom prst="rect">
            <a:avLst/>
          </a:prstGeom>
        </p:spPr>
      </p:pic>
      <p:pic>
        <p:nvPicPr>
          <p:cNvPr id="15" name="Imagen 14">
            <a:extLst>
              <a:ext uri="{FF2B5EF4-FFF2-40B4-BE49-F238E27FC236}">
                <a16:creationId xmlns:a16="http://schemas.microsoft.com/office/drawing/2014/main" id="{F419A725-67C3-B451-A6DF-38F591035840}"/>
              </a:ext>
            </a:extLst>
          </p:cNvPr>
          <p:cNvPicPr>
            <a:picLocks noChangeAspect="1"/>
          </p:cNvPicPr>
          <p:nvPr/>
        </p:nvPicPr>
        <p:blipFill>
          <a:blip r:embed="rId4"/>
          <a:stretch>
            <a:fillRect/>
          </a:stretch>
        </p:blipFill>
        <p:spPr>
          <a:xfrm>
            <a:off x="6697695" y="3022574"/>
            <a:ext cx="5345101" cy="2373068"/>
          </a:xfrm>
          <a:prstGeom prst="rect">
            <a:avLst/>
          </a:prstGeom>
        </p:spPr>
      </p:pic>
    </p:spTree>
    <p:extLst>
      <p:ext uri="{BB962C8B-B14F-4D97-AF65-F5344CB8AC3E}">
        <p14:creationId xmlns:p14="http://schemas.microsoft.com/office/powerpoint/2010/main" val="2952889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E2273B2-2E43-3CFB-75CC-42E53E0903F7}"/>
              </a:ext>
            </a:extLst>
          </p:cNvPr>
          <p:cNvSpPr>
            <a:spLocks noGrp="1"/>
          </p:cNvSpPr>
          <p:nvPr>
            <p:ph sz="quarter" idx="13"/>
          </p:nvPr>
        </p:nvSpPr>
        <p:spPr>
          <a:xfrm>
            <a:off x="914087" y="137931"/>
            <a:ext cx="10363826" cy="3424107"/>
          </a:xfrm>
        </p:spPr>
        <p:txBody>
          <a:bodyPr/>
          <a:lstStyle/>
          <a:p>
            <a:pPr marL="457200" indent="-457200">
              <a:buAutoNum type="arabicPeriod" startAt="4"/>
            </a:pPr>
            <a:r>
              <a:rPr lang="es-US" b="1" dirty="0">
                <a:solidFill>
                  <a:srgbClr val="00B0F0"/>
                </a:solidFill>
              </a:rPr>
              <a:t>Proyecto SIGHECD (PRJ-SIGHECD-2026-02) con MS Project y Jira Software</a:t>
            </a:r>
          </a:p>
          <a:p>
            <a:pPr algn="just"/>
            <a:r>
              <a:rPr lang="es-US" b="1" dirty="0">
                <a:solidFill>
                  <a:srgbClr val="FF0000"/>
                </a:solidFill>
              </a:rPr>
              <a:t>Microsoft Project: </a:t>
            </a:r>
            <a:r>
              <a:rPr lang="es-US" dirty="0"/>
              <a:t>Modelado del Diagrama de Gantt maestro para supervisar la ruta crítica de 12 semanas, dependencias estrictas de auditoría </a:t>
            </a:r>
            <a:r>
              <a:rPr lang="es-US" dirty="0" err="1"/>
              <a:t>PenTesting</a:t>
            </a:r>
            <a:r>
              <a:rPr lang="es-US" dirty="0"/>
              <a:t> y certificación de cumplimiento de la norma HL7 y FHIR.</a:t>
            </a:r>
          </a:p>
          <a:p>
            <a:pPr algn="just"/>
            <a:r>
              <a:rPr lang="es-US" b="1" dirty="0">
                <a:solidFill>
                  <a:srgbClr val="FF0000"/>
                </a:solidFill>
              </a:rPr>
              <a:t>Jira Software: </a:t>
            </a:r>
            <a:r>
              <a:rPr lang="es-US" dirty="0"/>
              <a:t>Ejecución técnica de los </a:t>
            </a:r>
            <a:r>
              <a:rPr lang="es-US" dirty="0" err="1"/>
              <a:t>Sprints</a:t>
            </a:r>
            <a:r>
              <a:rPr lang="es-US" dirty="0"/>
              <a:t> de </a:t>
            </a:r>
            <a:r>
              <a:rPr lang="es-US" dirty="0" err="1"/>
              <a:t>microservicios</a:t>
            </a:r>
            <a:r>
              <a:rPr lang="es-US" dirty="0"/>
              <a:t> (autenticación OAuth2, encriptación AES-256 y expediente electrónico).</a:t>
            </a:r>
          </a:p>
        </p:txBody>
      </p:sp>
      <p:pic>
        <p:nvPicPr>
          <p:cNvPr id="6" name="Imagen 5">
            <a:extLst>
              <a:ext uri="{FF2B5EF4-FFF2-40B4-BE49-F238E27FC236}">
                <a16:creationId xmlns:a16="http://schemas.microsoft.com/office/drawing/2014/main" id="{D86909CE-C0BC-DCFF-5291-76F0851489AD}"/>
              </a:ext>
            </a:extLst>
          </p:cNvPr>
          <p:cNvPicPr>
            <a:picLocks noChangeAspect="1"/>
          </p:cNvPicPr>
          <p:nvPr/>
        </p:nvPicPr>
        <p:blipFill>
          <a:blip r:embed="rId2"/>
          <a:stretch>
            <a:fillRect/>
          </a:stretch>
        </p:blipFill>
        <p:spPr>
          <a:xfrm>
            <a:off x="90144" y="3134717"/>
            <a:ext cx="6096888" cy="2613459"/>
          </a:xfrm>
          <a:prstGeom prst="rect">
            <a:avLst/>
          </a:prstGeom>
        </p:spPr>
      </p:pic>
      <p:pic>
        <p:nvPicPr>
          <p:cNvPr id="9" name="Imagen 8">
            <a:extLst>
              <a:ext uri="{FF2B5EF4-FFF2-40B4-BE49-F238E27FC236}">
                <a16:creationId xmlns:a16="http://schemas.microsoft.com/office/drawing/2014/main" id="{FA61F189-BE16-6E85-50D9-2946ED1A55E3}"/>
              </a:ext>
            </a:extLst>
          </p:cNvPr>
          <p:cNvPicPr>
            <a:picLocks noChangeAspect="1"/>
          </p:cNvPicPr>
          <p:nvPr/>
        </p:nvPicPr>
        <p:blipFill>
          <a:blip r:embed="rId3"/>
          <a:stretch>
            <a:fillRect/>
          </a:stretch>
        </p:blipFill>
        <p:spPr>
          <a:xfrm>
            <a:off x="6635528" y="3007552"/>
            <a:ext cx="5327339" cy="3084895"/>
          </a:xfrm>
          <a:prstGeom prst="rect">
            <a:avLst/>
          </a:prstGeom>
        </p:spPr>
      </p:pic>
    </p:spTree>
    <p:extLst>
      <p:ext uri="{BB962C8B-B14F-4D97-AF65-F5344CB8AC3E}">
        <p14:creationId xmlns:p14="http://schemas.microsoft.com/office/powerpoint/2010/main" val="2160796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4835EC-BA00-ED4F-C6BF-F929890CB5A1}"/>
              </a:ext>
            </a:extLst>
          </p:cNvPr>
          <p:cNvSpPr>
            <a:spLocks noGrp="1"/>
          </p:cNvSpPr>
          <p:nvPr>
            <p:ph type="title"/>
          </p:nvPr>
        </p:nvSpPr>
        <p:spPr>
          <a:xfrm>
            <a:off x="913774" y="130020"/>
            <a:ext cx="10353761" cy="1326321"/>
          </a:xfrm>
        </p:spPr>
        <p:txBody>
          <a:bodyPr/>
          <a:lstStyle/>
          <a:p>
            <a:r>
              <a:rPr lang="es-US" dirty="0"/>
              <a:t>SISTEMA DE CONTROL DE CAMBIOS Y SEGUIMIENTO</a:t>
            </a:r>
          </a:p>
        </p:txBody>
      </p:sp>
      <p:sp>
        <p:nvSpPr>
          <p:cNvPr id="3" name="Marcador de contenido 2">
            <a:extLst>
              <a:ext uri="{FF2B5EF4-FFF2-40B4-BE49-F238E27FC236}">
                <a16:creationId xmlns:a16="http://schemas.microsoft.com/office/drawing/2014/main" id="{2FF89DB5-A133-DB65-DF04-28A54351EE41}"/>
              </a:ext>
            </a:extLst>
          </p:cNvPr>
          <p:cNvSpPr>
            <a:spLocks noGrp="1"/>
          </p:cNvSpPr>
          <p:nvPr>
            <p:ph sz="quarter" idx="13"/>
          </p:nvPr>
        </p:nvSpPr>
        <p:spPr>
          <a:xfrm>
            <a:off x="913774" y="1456341"/>
            <a:ext cx="10363826" cy="3424107"/>
          </a:xfrm>
        </p:spPr>
        <p:txBody>
          <a:bodyPr/>
          <a:lstStyle/>
          <a:p>
            <a:pPr marL="457200" indent="-457200">
              <a:buAutoNum type="arabicPeriod"/>
            </a:pPr>
            <a:r>
              <a:rPr lang="es-US" b="1" dirty="0">
                <a:solidFill>
                  <a:srgbClr val="00B0F0"/>
                </a:solidFill>
              </a:rPr>
              <a:t>Flujo Integrado del Control de Cambios</a:t>
            </a:r>
          </a:p>
          <a:p>
            <a:pPr marL="0" indent="0" algn="just">
              <a:buNone/>
            </a:pPr>
            <a:r>
              <a:rPr lang="es-US" dirty="0"/>
              <a:t>Para proteger la entrega final de cada proyecto dentro de los límites autorizados, se aplica un procedimiento estandarizado para la recepción, evaluación y aprobación de cambios:</a:t>
            </a:r>
          </a:p>
        </p:txBody>
      </p:sp>
      <p:pic>
        <p:nvPicPr>
          <p:cNvPr id="6" name="Imagen 5">
            <a:extLst>
              <a:ext uri="{FF2B5EF4-FFF2-40B4-BE49-F238E27FC236}">
                <a16:creationId xmlns:a16="http://schemas.microsoft.com/office/drawing/2014/main" id="{CE93C4EF-A3C7-2DD6-6DF9-02543F51DD2B}"/>
              </a:ext>
            </a:extLst>
          </p:cNvPr>
          <p:cNvPicPr>
            <a:picLocks noChangeAspect="1"/>
          </p:cNvPicPr>
          <p:nvPr/>
        </p:nvPicPr>
        <p:blipFill>
          <a:blip r:embed="rId2"/>
          <a:stretch>
            <a:fillRect/>
          </a:stretch>
        </p:blipFill>
        <p:spPr>
          <a:xfrm>
            <a:off x="3097029" y="2993825"/>
            <a:ext cx="5482838" cy="3428112"/>
          </a:xfrm>
          <a:prstGeom prst="rect">
            <a:avLst/>
          </a:prstGeom>
        </p:spPr>
      </p:pic>
    </p:spTree>
    <p:extLst>
      <p:ext uri="{BB962C8B-B14F-4D97-AF65-F5344CB8AC3E}">
        <p14:creationId xmlns:p14="http://schemas.microsoft.com/office/powerpoint/2010/main" val="4291417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79435AA-5129-53B9-2195-D7B672C8794F}"/>
              </a:ext>
            </a:extLst>
          </p:cNvPr>
          <p:cNvSpPr>
            <a:spLocks noGrp="1"/>
          </p:cNvSpPr>
          <p:nvPr>
            <p:ph sz="quarter" idx="13"/>
          </p:nvPr>
        </p:nvSpPr>
        <p:spPr>
          <a:xfrm>
            <a:off x="959380" y="795134"/>
            <a:ext cx="10363826" cy="3424107"/>
          </a:xfrm>
        </p:spPr>
        <p:txBody>
          <a:bodyPr/>
          <a:lstStyle/>
          <a:p>
            <a:pPr marL="457200" indent="-457200">
              <a:buAutoNum type="arabicPeriod" startAt="2"/>
            </a:pPr>
            <a:r>
              <a:rPr lang="es-US" b="1" dirty="0">
                <a:solidFill>
                  <a:srgbClr val="00B0F0"/>
                </a:solidFill>
              </a:rPr>
              <a:t>Matriz de Responsabilidades en el Control de Cambios (RACI)</a:t>
            </a:r>
          </a:p>
        </p:txBody>
      </p:sp>
      <p:pic>
        <p:nvPicPr>
          <p:cNvPr id="6" name="Imagen 5">
            <a:extLst>
              <a:ext uri="{FF2B5EF4-FFF2-40B4-BE49-F238E27FC236}">
                <a16:creationId xmlns:a16="http://schemas.microsoft.com/office/drawing/2014/main" id="{F4CD3AD8-A8C3-244C-A6F5-AC8C9A2BD5CC}"/>
              </a:ext>
            </a:extLst>
          </p:cNvPr>
          <p:cNvPicPr>
            <a:picLocks noChangeAspect="1"/>
          </p:cNvPicPr>
          <p:nvPr/>
        </p:nvPicPr>
        <p:blipFill>
          <a:blip r:embed="rId2"/>
          <a:stretch>
            <a:fillRect/>
          </a:stretch>
        </p:blipFill>
        <p:spPr>
          <a:xfrm>
            <a:off x="399650" y="1447587"/>
            <a:ext cx="11483287" cy="4227448"/>
          </a:xfrm>
          <a:prstGeom prst="rect">
            <a:avLst/>
          </a:prstGeom>
        </p:spPr>
      </p:pic>
      <p:sp>
        <p:nvSpPr>
          <p:cNvPr id="8" name="CuadroTexto 7">
            <a:extLst>
              <a:ext uri="{FF2B5EF4-FFF2-40B4-BE49-F238E27FC236}">
                <a16:creationId xmlns:a16="http://schemas.microsoft.com/office/drawing/2014/main" id="{1FC0403B-15E8-1D61-A6BD-A67BBEE240BD}"/>
              </a:ext>
            </a:extLst>
          </p:cNvPr>
          <p:cNvSpPr txBox="1"/>
          <p:nvPr/>
        </p:nvSpPr>
        <p:spPr>
          <a:xfrm>
            <a:off x="711821" y="5805694"/>
            <a:ext cx="10185311" cy="369332"/>
          </a:xfrm>
          <a:prstGeom prst="rect">
            <a:avLst/>
          </a:prstGeom>
          <a:noFill/>
        </p:spPr>
        <p:txBody>
          <a:bodyPr wrap="square">
            <a:spAutoFit/>
          </a:bodyPr>
          <a:lstStyle/>
          <a:p>
            <a:r>
              <a:rPr lang="es-US" dirty="0"/>
              <a:t>(R: Responsable de ejecución, A: Aprobador final/</a:t>
            </a:r>
            <a:r>
              <a:rPr lang="es-US" dirty="0" err="1"/>
              <a:t>Accountable</a:t>
            </a:r>
            <a:r>
              <a:rPr lang="es-US" dirty="0"/>
              <a:t>, C: Consultado, I: Informado)</a:t>
            </a:r>
          </a:p>
        </p:txBody>
      </p:sp>
    </p:spTree>
    <p:extLst>
      <p:ext uri="{BB962C8B-B14F-4D97-AF65-F5344CB8AC3E}">
        <p14:creationId xmlns:p14="http://schemas.microsoft.com/office/powerpoint/2010/main" val="992319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FE4B8FE-0E88-6539-4D43-24831DD77FD1}"/>
              </a:ext>
            </a:extLst>
          </p:cNvPr>
          <p:cNvSpPr>
            <a:spLocks noGrp="1"/>
          </p:cNvSpPr>
          <p:nvPr>
            <p:ph sz="quarter" idx="13"/>
          </p:nvPr>
        </p:nvSpPr>
        <p:spPr>
          <a:xfrm>
            <a:off x="834157" y="4893"/>
            <a:ext cx="10363826" cy="3424107"/>
          </a:xfrm>
        </p:spPr>
        <p:txBody>
          <a:bodyPr>
            <a:normAutofit fontScale="92500" lnSpcReduction="10000"/>
          </a:bodyPr>
          <a:lstStyle/>
          <a:p>
            <a:pPr marL="0" indent="0">
              <a:buNone/>
            </a:pPr>
            <a:r>
              <a:rPr lang="es-US" b="1" dirty="0">
                <a:solidFill>
                  <a:srgbClr val="00B0F0"/>
                </a:solidFill>
              </a:rPr>
              <a:t>3.     Ejemplo Práctico de Gestión de Cambio (Caso LOGIX-TRACE) </a:t>
            </a:r>
          </a:p>
          <a:p>
            <a:pPr algn="just"/>
            <a:r>
              <a:rPr lang="es-US" b="1" dirty="0">
                <a:solidFill>
                  <a:srgbClr val="FF0000"/>
                </a:solidFill>
              </a:rPr>
              <a:t>Solicitud de Cambio: </a:t>
            </a:r>
            <a:r>
              <a:rPr lang="es-US" dirty="0"/>
              <a:t>La Dirección de Operaciones solicita agregar un módulo de monitoreo térmico para carga refrigerada en la Semana 5 del proyecto.</a:t>
            </a:r>
          </a:p>
          <a:p>
            <a:pPr algn="just"/>
            <a:r>
              <a:rPr lang="es-US" b="1" dirty="0">
                <a:solidFill>
                  <a:srgbClr val="FF0000"/>
                </a:solidFill>
              </a:rPr>
              <a:t>Análisis de Impacto: </a:t>
            </a:r>
            <a:r>
              <a:rPr lang="es-US" dirty="0"/>
              <a:t>Requiere 2 semanas adicionales de desarrollo y compra de hardware especializado, lo que violaría la restricción estricta de tiempo de 10 semanas y el presupuesto de </a:t>
            </a:r>
            <a:r>
              <a:rPr lang="es-US" dirty="0" err="1"/>
              <a:t>APIs</a:t>
            </a:r>
            <a:r>
              <a:rPr lang="es-US" dirty="0"/>
              <a:t>.</a:t>
            </a:r>
          </a:p>
          <a:p>
            <a:pPr algn="just"/>
            <a:r>
              <a:rPr lang="es-US" b="1" dirty="0">
                <a:solidFill>
                  <a:srgbClr val="FF0000"/>
                </a:solidFill>
              </a:rPr>
              <a:t>Dictamen del CCB: </a:t>
            </a:r>
            <a:r>
              <a:rPr lang="es-US" dirty="0"/>
              <a:t>Rechazado para la V1.0. Se registra la solicitud como mejora priorizada para la Versión 2.0 (Fase 2) para mantener el compromiso de entrega de la fase inicial.   </a:t>
            </a:r>
          </a:p>
        </p:txBody>
      </p:sp>
      <p:sp>
        <p:nvSpPr>
          <p:cNvPr id="5" name="Marcador de contenido 2">
            <a:extLst>
              <a:ext uri="{FF2B5EF4-FFF2-40B4-BE49-F238E27FC236}">
                <a16:creationId xmlns:a16="http://schemas.microsoft.com/office/drawing/2014/main" id="{C6B9A418-D72C-FCC4-9D34-2436AB7717BC}"/>
              </a:ext>
            </a:extLst>
          </p:cNvPr>
          <p:cNvSpPr txBox="1">
            <a:spLocks/>
          </p:cNvSpPr>
          <p:nvPr/>
        </p:nvSpPr>
        <p:spPr>
          <a:xfrm>
            <a:off x="834157" y="3549702"/>
            <a:ext cx="10363826" cy="342410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Arial" panose="020B0604020202020204" pitchFamily="34" charset="0"/>
              <a:buAutoNum type="arabicPeriod" startAt="4"/>
            </a:pPr>
            <a:r>
              <a:rPr lang="es-US" b="1" dirty="0">
                <a:solidFill>
                  <a:srgbClr val="00B0F0"/>
                </a:solidFill>
              </a:rPr>
              <a:t>Mecanismos de Seguimiento y Control de Avance</a:t>
            </a:r>
          </a:p>
          <a:p>
            <a:pPr marL="457200" indent="-457200" algn="just">
              <a:buAutoNum type="arabicPeriod"/>
            </a:pPr>
            <a:r>
              <a:rPr lang="es-US" b="1" dirty="0" err="1">
                <a:solidFill>
                  <a:srgbClr val="FF0000"/>
                </a:solidFill>
              </a:rPr>
              <a:t>Burndown</a:t>
            </a:r>
            <a:r>
              <a:rPr lang="es-US" b="1" dirty="0">
                <a:solidFill>
                  <a:srgbClr val="FF0000"/>
                </a:solidFill>
              </a:rPr>
              <a:t> Charts en Jira: </a:t>
            </a:r>
            <a:r>
              <a:rPr lang="es-US" dirty="0"/>
              <a:t>Monitoreo diario en reuniones </a:t>
            </a:r>
            <a:r>
              <a:rPr lang="es-US" dirty="0" err="1"/>
              <a:t>Standup</a:t>
            </a:r>
            <a:r>
              <a:rPr lang="es-US" dirty="0"/>
              <a:t> del trabajo</a:t>
            </a:r>
          </a:p>
          <a:p>
            <a:pPr marL="457200" indent="-457200" algn="just">
              <a:buAutoNum type="arabicPeriod"/>
            </a:pPr>
            <a:r>
              <a:rPr lang="es-US" dirty="0"/>
              <a:t> pendiente frente al tiempo restante en cada Sprint.</a:t>
            </a:r>
          </a:p>
          <a:p>
            <a:pPr marL="457200" indent="-457200" algn="just">
              <a:buFont typeface="+mj-lt"/>
              <a:buAutoNum type="arabicPeriod"/>
            </a:pPr>
            <a:r>
              <a:rPr lang="es-US" b="1" dirty="0">
                <a:solidFill>
                  <a:srgbClr val="FF0000"/>
                </a:solidFill>
              </a:rPr>
              <a:t>Líneas Base en MS Project: </a:t>
            </a:r>
            <a:r>
              <a:rPr lang="es-US" dirty="0"/>
              <a:t>Comparación semanal del avance real contra la línea base planificada para calcular desviaciones de tiempo en la ruta crítica.</a:t>
            </a:r>
          </a:p>
          <a:p>
            <a:pPr marL="457200" indent="-457200" algn="just">
              <a:buFont typeface="+mj-lt"/>
              <a:buAutoNum type="arabicPeriod"/>
            </a:pPr>
            <a:r>
              <a:rPr lang="es-US" b="1" dirty="0" err="1">
                <a:solidFill>
                  <a:srgbClr val="FF0000"/>
                </a:solidFill>
              </a:rPr>
              <a:t>Dashboards</a:t>
            </a:r>
            <a:r>
              <a:rPr lang="es-US" b="1" dirty="0">
                <a:solidFill>
                  <a:srgbClr val="FF0000"/>
                </a:solidFill>
              </a:rPr>
              <a:t> Ejecutivos: </a:t>
            </a:r>
            <a:r>
              <a:rPr lang="es-US" dirty="0"/>
              <a:t>Generación de reportes automáticos de estado con indicadores de </a:t>
            </a:r>
            <a:r>
              <a:rPr lang="es-US" dirty="0" err="1"/>
              <a:t>Uptime</a:t>
            </a:r>
            <a:r>
              <a:rPr lang="es-US" dirty="0"/>
              <a:t>, pruebas de penetración superadas y cumplimiento de </a:t>
            </a:r>
            <a:r>
              <a:rPr lang="es-US" dirty="0" err="1"/>
              <a:t>Sprints</a:t>
            </a:r>
            <a:r>
              <a:rPr lang="es-US" dirty="0"/>
              <a:t> para la alta dirección.</a:t>
            </a:r>
          </a:p>
        </p:txBody>
      </p:sp>
    </p:spTree>
    <p:extLst>
      <p:ext uri="{BB962C8B-B14F-4D97-AF65-F5344CB8AC3E}">
        <p14:creationId xmlns:p14="http://schemas.microsoft.com/office/powerpoint/2010/main" val="3669363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D9536-2373-4716-A85D-A9802C1E1138}"/>
              </a:ext>
            </a:extLst>
          </p:cNvPr>
          <p:cNvSpPr>
            <a:spLocks noGrp="1"/>
          </p:cNvSpPr>
          <p:nvPr>
            <p:ph type="title"/>
          </p:nvPr>
        </p:nvSpPr>
        <p:spPr>
          <a:xfrm>
            <a:off x="1790700" y="0"/>
            <a:ext cx="8610600" cy="1293028"/>
          </a:xfrm>
        </p:spPr>
        <p:txBody>
          <a:bodyPr/>
          <a:lstStyle/>
          <a:p>
            <a:pPr algn="ctr"/>
            <a:r>
              <a:rPr lang="es-MX" b="1" dirty="0"/>
              <a:t>Conclusión</a:t>
            </a:r>
            <a:r>
              <a:rPr lang="es-MX" dirty="0"/>
              <a:t> </a:t>
            </a:r>
          </a:p>
        </p:txBody>
      </p:sp>
      <p:sp>
        <p:nvSpPr>
          <p:cNvPr id="3" name="Marcador de contenido 2">
            <a:extLst>
              <a:ext uri="{FF2B5EF4-FFF2-40B4-BE49-F238E27FC236}">
                <a16:creationId xmlns:a16="http://schemas.microsoft.com/office/drawing/2014/main" id="{2068DE2A-CAFB-400E-89FD-3E49FD7B341C}"/>
              </a:ext>
            </a:extLst>
          </p:cNvPr>
          <p:cNvSpPr>
            <a:spLocks noGrp="1"/>
          </p:cNvSpPr>
          <p:nvPr>
            <p:ph sz="quarter" idx="13"/>
          </p:nvPr>
        </p:nvSpPr>
        <p:spPr>
          <a:xfrm>
            <a:off x="429512" y="1231725"/>
            <a:ext cx="11190878" cy="5132806"/>
          </a:xfrm>
        </p:spPr>
        <p:txBody>
          <a:bodyPr>
            <a:noAutofit/>
          </a:bodyPr>
          <a:lstStyle/>
          <a:p>
            <a:pPr marL="0" indent="0" algn="just">
              <a:buNone/>
            </a:pPr>
            <a:r>
              <a:rPr lang="es-US" sz="1800" dirty="0"/>
              <a:t>Como conclusión puedo decir sobre la integración sistemática de Microsoft Project, Jira Software y Trello demostró ser una estrategia eficaz para la gestión diversificada del portafolio de proyectos de TI. La combinación de herramientas adaptadas a cada metodología (ágil, híbrida o tradicional) permitió articular adecuadamente las tareas técnicas de desarrollo con las operativas de campo y las restricciones formales de cumplimiento normativo. Adicionalmente, la estandarización del proceso de control de cambios (RFC) junto con la asignación clara de roles en la Matriz RACI proporcionó la gobernanza necesaria para tomar decisiones fundamentadas sobre el alcance y proteger las líneas base de cada proyecto. Finalmente, la adopción de mecanismos de seguimiento continuo como las gráficas </a:t>
            </a:r>
            <a:r>
              <a:rPr lang="es-US" sz="1800" dirty="0" err="1"/>
              <a:t>Burndown</a:t>
            </a:r>
            <a:r>
              <a:rPr lang="es-US" sz="1800" dirty="0"/>
              <a:t> en reuniones de pie y el control de desviaciones en Diagramas de Gantt consolida una estructura sólida para evaluar el desempeño, garantizando entregas alineadas con los objetivos de calidad y los plazos definidos.</a:t>
            </a:r>
          </a:p>
        </p:txBody>
      </p:sp>
    </p:spTree>
    <p:extLst>
      <p:ext uri="{BB962C8B-B14F-4D97-AF65-F5344CB8AC3E}">
        <p14:creationId xmlns:p14="http://schemas.microsoft.com/office/powerpoint/2010/main" val="2345241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76D41E-5F8B-5742-1B5B-E411020984F3}"/>
              </a:ext>
            </a:extLst>
          </p:cNvPr>
          <p:cNvSpPr>
            <a:spLocks noGrp="1"/>
          </p:cNvSpPr>
          <p:nvPr>
            <p:ph type="title"/>
          </p:nvPr>
        </p:nvSpPr>
        <p:spPr>
          <a:xfrm>
            <a:off x="425334" y="529670"/>
            <a:ext cx="10353761" cy="1326321"/>
          </a:xfrm>
        </p:spPr>
        <p:txBody>
          <a:bodyPr/>
          <a:lstStyle/>
          <a:p>
            <a:r>
              <a:rPr lang="es-US" dirty="0"/>
              <a:t>FUENTES DE INFORMACIÓN  </a:t>
            </a:r>
          </a:p>
        </p:txBody>
      </p:sp>
      <p:sp>
        <p:nvSpPr>
          <p:cNvPr id="3" name="Marcador de contenido 2">
            <a:extLst>
              <a:ext uri="{FF2B5EF4-FFF2-40B4-BE49-F238E27FC236}">
                <a16:creationId xmlns:a16="http://schemas.microsoft.com/office/drawing/2014/main" id="{573E157D-B0A2-C46A-1418-74CAB25BB009}"/>
              </a:ext>
            </a:extLst>
          </p:cNvPr>
          <p:cNvSpPr>
            <a:spLocks noGrp="1"/>
          </p:cNvSpPr>
          <p:nvPr>
            <p:ph sz="quarter" idx="13"/>
          </p:nvPr>
        </p:nvSpPr>
        <p:spPr>
          <a:xfrm>
            <a:off x="1014281" y="1855991"/>
            <a:ext cx="9175865" cy="4329272"/>
          </a:xfrm>
        </p:spPr>
        <p:txBody>
          <a:bodyPr>
            <a:normAutofit/>
          </a:bodyPr>
          <a:lstStyle/>
          <a:p>
            <a:pPr algn="just"/>
            <a:r>
              <a:rPr lang="es-US" dirty="0"/>
              <a:t>Las 8 mejores herramientas de gestión de cambios para probar | </a:t>
            </a:r>
            <a:r>
              <a:rPr lang="es-US" dirty="0" err="1"/>
              <a:t>Atlassian</a:t>
            </a:r>
            <a:r>
              <a:rPr lang="es-US" dirty="0"/>
              <a:t> </a:t>
            </a:r>
            <a:r>
              <a:rPr lang="es-US" dirty="0">
                <a:hlinkClick r:id="rId2"/>
              </a:rPr>
              <a:t>https://share.google/T6QAj8llGCtqKLSVX</a:t>
            </a:r>
            <a:r>
              <a:rPr lang="es-US" dirty="0"/>
              <a:t> </a:t>
            </a:r>
          </a:p>
          <a:p>
            <a:pPr algn="just"/>
            <a:r>
              <a:rPr lang="es-US" dirty="0"/>
              <a:t>22 Técnicas y Herramientas de Gestión de Proyectos </a:t>
            </a:r>
            <a:r>
              <a:rPr lang="es-US" dirty="0">
                <a:hlinkClick r:id="rId3"/>
              </a:rPr>
              <a:t>https://share.google/TQwGrDY4ibFeu6C3p</a:t>
            </a:r>
            <a:r>
              <a:rPr lang="es-US" dirty="0"/>
              <a:t> </a:t>
            </a:r>
          </a:p>
          <a:p>
            <a:pPr algn="just"/>
            <a:r>
              <a:rPr lang="es-US" dirty="0"/>
              <a:t>Herramientas de gestión de proyectos: guía 2026 – </a:t>
            </a:r>
            <a:r>
              <a:rPr lang="es-US" dirty="0" err="1"/>
              <a:t>Workmeter</a:t>
            </a:r>
            <a:r>
              <a:rPr lang="es-US" dirty="0"/>
              <a:t> </a:t>
            </a:r>
            <a:r>
              <a:rPr lang="es-US" dirty="0">
                <a:hlinkClick r:id="rId4"/>
              </a:rPr>
              <a:t>https://share.google/VTEAWBAapPUkRnOkH</a:t>
            </a:r>
            <a:r>
              <a:rPr lang="es-US" dirty="0"/>
              <a:t> </a:t>
            </a:r>
          </a:p>
          <a:p>
            <a:r>
              <a:rPr lang="es-US" dirty="0">
                <a:hlinkClick r:id="rId5"/>
              </a:rPr>
              <a:t>https://youtu.be/-mtLnAimfBA?si=IFHVDhgovUJGo214</a:t>
            </a:r>
            <a:r>
              <a:rPr lang="es-US" dirty="0"/>
              <a:t> </a:t>
            </a:r>
          </a:p>
          <a:p>
            <a:pPr algn="just"/>
            <a:r>
              <a:rPr lang="es-US" dirty="0"/>
              <a:t>10 mejores herramientas de gestión de proyectos [2026] </a:t>
            </a:r>
            <a:r>
              <a:rPr lang="es-US" dirty="0">
                <a:hlinkClick r:id="rId6"/>
              </a:rPr>
              <a:t>https://share.google/1GsAkTRkB6S5bWViq</a:t>
            </a:r>
            <a:r>
              <a:rPr lang="es-US" dirty="0"/>
              <a:t> </a:t>
            </a:r>
          </a:p>
        </p:txBody>
      </p:sp>
    </p:spTree>
    <p:extLst>
      <p:ext uri="{BB962C8B-B14F-4D97-AF65-F5344CB8AC3E}">
        <p14:creationId xmlns:p14="http://schemas.microsoft.com/office/powerpoint/2010/main" val="69880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F6451CC-D717-189A-1F38-FC629C26AA4F}"/>
              </a:ext>
            </a:extLst>
          </p:cNvPr>
          <p:cNvSpPr>
            <a:spLocks noGrp="1"/>
          </p:cNvSpPr>
          <p:nvPr>
            <p:ph sz="quarter" idx="13"/>
          </p:nvPr>
        </p:nvSpPr>
        <p:spPr>
          <a:xfrm>
            <a:off x="914087" y="472978"/>
            <a:ext cx="10363826" cy="3424107"/>
          </a:xfrm>
        </p:spPr>
        <p:txBody>
          <a:bodyPr/>
          <a:lstStyle/>
          <a:p>
            <a:pPr marL="0" indent="0">
              <a:buNone/>
            </a:pPr>
            <a:r>
              <a:rPr lang="es-MX" dirty="0"/>
              <a:t>Link de </a:t>
            </a:r>
            <a:r>
              <a:rPr lang="es-MX" dirty="0" err="1"/>
              <a:t>github</a:t>
            </a:r>
            <a:r>
              <a:rPr lang="es-MX" dirty="0"/>
              <a:t>: </a:t>
            </a:r>
            <a:r>
              <a:rPr lang="es-US" dirty="0"/>
              <a:t> </a:t>
            </a:r>
            <a:r>
              <a:rPr lang="es-US" dirty="0">
                <a:hlinkClick r:id="rId2"/>
              </a:rPr>
              <a:t>https://github.com/Angel-ortiz144/GPTI--Tema-5.git</a:t>
            </a:r>
            <a:r>
              <a:rPr lang="es-US" dirty="0"/>
              <a:t> </a:t>
            </a:r>
            <a:endParaRPr lang="es-MX" dirty="0"/>
          </a:p>
        </p:txBody>
      </p:sp>
      <p:pic>
        <p:nvPicPr>
          <p:cNvPr id="4" name="Imagen 3">
            <a:extLst>
              <a:ext uri="{FF2B5EF4-FFF2-40B4-BE49-F238E27FC236}">
                <a16:creationId xmlns:a16="http://schemas.microsoft.com/office/drawing/2014/main" id="{0F6C7854-AD95-487C-B1A0-40B7D4D64573}"/>
              </a:ext>
            </a:extLst>
          </p:cNvPr>
          <p:cNvPicPr>
            <a:picLocks noChangeAspect="1"/>
          </p:cNvPicPr>
          <p:nvPr/>
        </p:nvPicPr>
        <p:blipFill>
          <a:blip r:embed="rId3"/>
          <a:stretch>
            <a:fillRect/>
          </a:stretch>
        </p:blipFill>
        <p:spPr>
          <a:xfrm>
            <a:off x="528918" y="1021976"/>
            <a:ext cx="11205882" cy="5611906"/>
          </a:xfrm>
          <a:prstGeom prst="rect">
            <a:avLst/>
          </a:prstGeom>
        </p:spPr>
      </p:pic>
    </p:spTree>
    <p:extLst>
      <p:ext uri="{BB962C8B-B14F-4D97-AF65-F5344CB8AC3E}">
        <p14:creationId xmlns:p14="http://schemas.microsoft.com/office/powerpoint/2010/main" val="12912150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TM04033921[[fn=Damasco]]</Template>
  <TotalTime>848</TotalTime>
  <Words>1280</Words>
  <Application>Microsoft Office PowerPoint</Application>
  <PresentationFormat>Panorámica</PresentationFormat>
  <Paragraphs>74</Paragraphs>
  <Slides>15</Slides>
  <Notes>0</Notes>
  <HiddenSlides>0</HiddenSlides>
  <MMClips>0</MMClips>
  <ScaleCrop>false</ScaleCrop>
  <HeadingPairs>
    <vt:vector size="4" baseType="variant">
      <vt:variant>
        <vt:lpstr>Tema</vt:lpstr>
      </vt:variant>
      <vt:variant>
        <vt:i4>1</vt:i4>
      </vt:variant>
      <vt:variant>
        <vt:lpstr>Títulos de diapositiva</vt:lpstr>
      </vt:variant>
      <vt:variant>
        <vt:i4>15</vt:i4>
      </vt:variant>
    </vt:vector>
  </HeadingPairs>
  <TitlesOfParts>
    <vt:vector size="16" baseType="lpstr">
      <vt:lpstr>Damask</vt:lpstr>
      <vt:lpstr>Instituto tecnológico de nacional de México  (instituto tecnológico de frontera Comalapa) </vt:lpstr>
      <vt:lpstr>Introducción </vt:lpstr>
      <vt:lpstr>JUSTIFICACIÓN</vt:lpstr>
      <vt:lpstr>Objetivos</vt:lpstr>
      <vt:lpstr>CONTEXTO OPERATIVO Y EQUIPOS DE PROYECTO</vt:lpstr>
      <vt:lpstr>SELECCIÓN Y APLICACIÓN DE HERRAMIENTAS TECNOLÓGICAS</vt:lpstr>
      <vt:lpstr>Presentación de PowerPoint</vt:lpstr>
      <vt:lpstr>Presentación de PowerPoint</vt:lpstr>
      <vt:lpstr>Presentación de PowerPoint</vt:lpstr>
      <vt:lpstr>SISTEMA DE CONTROL DE CAMBIOS Y SEGUIMIENTO</vt:lpstr>
      <vt:lpstr>Presentación de PowerPoint</vt:lpstr>
      <vt:lpstr>Presentación de PowerPoint</vt:lpstr>
      <vt:lpstr>Conclusión </vt:lpstr>
      <vt:lpstr>FUENTES DE INFORMACIÓN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tecnológico de frontera Comalapa</dc:title>
  <dc:creator>WER-PCPLUS</dc:creator>
  <cp:lastModifiedBy>ANGEL DE JESÚS MAZARIEGOS ORTIZ</cp:lastModifiedBy>
  <cp:revision>191</cp:revision>
  <dcterms:created xsi:type="dcterms:W3CDTF">2024-03-08T16:42:11Z</dcterms:created>
  <dcterms:modified xsi:type="dcterms:W3CDTF">2026-10-02T23:07:37Z</dcterms:modified>
</cp:coreProperties>
</file>